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41b0a8eb054ce5" /><Relationship Type="http://schemas.openxmlformats.org/officeDocument/2006/relationships/extended-properties" Target="/docProps/app.xml" Id="Rdcd53a4d175b41d2" /><Relationship Type="http://schemas.openxmlformats.org/officeDocument/2006/relationships/officeDocument" Target="/ppt/presentation.xml" Id="R5f332409a72848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c5485b0de54979"/>
  </p:sldMasterIdLst>
  <p:notesMasterIdLst>
    <p:notesMasterId xmlns:r="http://schemas.openxmlformats.org/officeDocument/2006/relationships" r:id="Rd286081acb0d464b"/>
  </p:notesMasterIdLst>
  <p:sldIdLst>
    <p:sldId xmlns:r="http://schemas.openxmlformats.org/officeDocument/2006/relationships" id="256" r:id="Reae34526ea114a42"/>
    <p:sldId xmlns:r="http://schemas.openxmlformats.org/officeDocument/2006/relationships" id="257" r:id="R9b1a7a9577864df0"/>
    <p:sldId xmlns:r="http://schemas.openxmlformats.org/officeDocument/2006/relationships" id="258" r:id="R9de8ac8e36b04d33"/>
    <p:sldId xmlns:r="http://schemas.openxmlformats.org/officeDocument/2006/relationships" id="259" r:id="Re5ca0ddbdd994e24"/>
    <p:sldId xmlns:r="http://schemas.openxmlformats.org/officeDocument/2006/relationships" id="260" r:id="Ra483eb05c15d4c1f"/>
    <p:sldId xmlns:r="http://schemas.openxmlformats.org/officeDocument/2006/relationships" id="261" r:id="R9642250812244253"/>
    <p:sldId xmlns:r="http://schemas.openxmlformats.org/officeDocument/2006/relationships" id="262" r:id="R45e2650b38c244a5"/>
    <p:sldId xmlns:r="http://schemas.openxmlformats.org/officeDocument/2006/relationships" id="263" r:id="R537fccca00ac4929"/>
    <p:sldId xmlns:r="http://schemas.openxmlformats.org/officeDocument/2006/relationships" id="264" r:id="Rc3e924473a3d4e30"/>
    <p:sldId xmlns:r="http://schemas.openxmlformats.org/officeDocument/2006/relationships" id="265" r:id="Rd5627d06085d48dc"/>
    <p:sldId xmlns:r="http://schemas.openxmlformats.org/officeDocument/2006/relationships" id="266" r:id="Re81c1f1476fc4e32"/>
    <p:sldId xmlns:r="http://schemas.openxmlformats.org/officeDocument/2006/relationships" id="267" r:id="R236bf14e3f9a4939"/>
    <p:sldId xmlns:r="http://schemas.openxmlformats.org/officeDocument/2006/relationships" id="268" r:id="R8fae27b368de44ae"/>
    <p:sldId xmlns:r="http://schemas.openxmlformats.org/officeDocument/2006/relationships" id="269" r:id="Rac950b644d4e42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bf689e7a2c4afd" /><Relationship Type="http://schemas.openxmlformats.org/officeDocument/2006/relationships/slideMaster" Target="/ppt/slideMasters/slideMaster1.xml" Id="R4ac5485b0de54979" /><Relationship Type="http://schemas.openxmlformats.org/officeDocument/2006/relationships/notesMaster" Target="/ppt/notesMasters/notesMaster1.xml" Id="Rd286081acb0d464b" /><Relationship Type="http://schemas.openxmlformats.org/officeDocument/2006/relationships/presProps" Target="/ppt/presProps.xml" Id="R0ddb37d0cbc24213" /><Relationship Type="http://schemas.openxmlformats.org/officeDocument/2006/relationships/tableStyles" Target="/ppt/tableStyles.xml" Id="Redfab7f5bbaa4d70" /><Relationship Type="http://schemas.openxmlformats.org/officeDocument/2006/relationships/slide" Target="/ppt/slides/slide1.xml" Id="Reae34526ea114a42" /><Relationship Type="http://schemas.openxmlformats.org/officeDocument/2006/relationships/slide" Target="/ppt/slides/slide2.xml" Id="R9b1a7a9577864df0" /><Relationship Type="http://schemas.openxmlformats.org/officeDocument/2006/relationships/slide" Target="/ppt/slides/slide3.xml" Id="R9de8ac8e36b04d33" /><Relationship Type="http://schemas.openxmlformats.org/officeDocument/2006/relationships/slide" Target="/ppt/slides/slide4.xml" Id="Re5ca0ddbdd994e24" /><Relationship Type="http://schemas.openxmlformats.org/officeDocument/2006/relationships/slide" Target="/ppt/slides/slide5.xml" Id="Ra483eb05c15d4c1f" /><Relationship Type="http://schemas.openxmlformats.org/officeDocument/2006/relationships/slide" Target="/ppt/slides/slide6.xml" Id="R9642250812244253" /><Relationship Type="http://schemas.openxmlformats.org/officeDocument/2006/relationships/slide" Target="/ppt/slides/slide7.xml" Id="R45e2650b38c244a5" /><Relationship Type="http://schemas.openxmlformats.org/officeDocument/2006/relationships/slide" Target="/ppt/slides/slide8.xml" Id="R537fccca00ac4929" /><Relationship Type="http://schemas.openxmlformats.org/officeDocument/2006/relationships/slide" Target="/ppt/slides/slide9.xml" Id="Rc3e924473a3d4e30" /><Relationship Type="http://schemas.openxmlformats.org/officeDocument/2006/relationships/slide" Target="/ppt/slides/slide10.xml" Id="Rd5627d06085d48dc" /><Relationship Type="http://schemas.openxmlformats.org/officeDocument/2006/relationships/slide" Target="/ppt/slides/slide11.xml" Id="Re81c1f1476fc4e32" /><Relationship Type="http://schemas.openxmlformats.org/officeDocument/2006/relationships/slide" Target="/ppt/slides/slide12.xml" Id="R236bf14e3f9a4939" /><Relationship Type="http://schemas.openxmlformats.org/officeDocument/2006/relationships/slide" Target="/ppt/slides/slide13.xml" Id="R8fae27b368de44ae" /><Relationship Type="http://schemas.openxmlformats.org/officeDocument/2006/relationships/slide" Target="/ppt/slides/slide14.xml" Id="Rac950b644d4e42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8c4c79b4db4a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a953349c884d2a" /><Relationship Type="http://schemas.openxmlformats.org/officeDocument/2006/relationships/notesMaster" Target="/ppt/notesMasters/notesMaster1.xml" Id="R4574ce5aa3a644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a4a88d392b424c" /><Relationship Type="http://schemas.openxmlformats.org/officeDocument/2006/relationships/notesMaster" Target="/ppt/notesMasters/notesMaster1.xml" Id="Ra2b471b6fbed49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ae0a4b2e2940ba" /><Relationship Type="http://schemas.openxmlformats.org/officeDocument/2006/relationships/notesMaster" Target="/ppt/notesMasters/notesMaster1.xml" Id="Rdc6c1cd5004b4a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3a072877e049c2" /><Relationship Type="http://schemas.openxmlformats.org/officeDocument/2006/relationships/notesMaster" Target="/ppt/notesMasters/notesMaster1.xml" Id="Rad2c98ac351c44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233486ed6b44df" /><Relationship Type="http://schemas.openxmlformats.org/officeDocument/2006/relationships/notesMaster" Target="/ppt/notesMasters/notesMaster1.xml" Id="Rbbcbc9b3b74640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1affcca4284ea2" /><Relationship Type="http://schemas.openxmlformats.org/officeDocument/2006/relationships/notesMaster" Target="/ppt/notesMasters/notesMaster1.xml" Id="R7fdff010788446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304102dca04325" /><Relationship Type="http://schemas.openxmlformats.org/officeDocument/2006/relationships/notesMaster" Target="/ppt/notesMasters/notesMaster1.xml" Id="Rea1b35ac30194e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bd98f019eb40fe" /><Relationship Type="http://schemas.openxmlformats.org/officeDocument/2006/relationships/notesMaster" Target="/ppt/notesMasters/notesMaster1.xml" Id="R1b13c588cc8149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b3755aa1944808" /><Relationship Type="http://schemas.openxmlformats.org/officeDocument/2006/relationships/notesMaster" Target="/ppt/notesMasters/notesMaster1.xml" Id="R92589a1a356040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ca251c0bc84f27" /><Relationship Type="http://schemas.openxmlformats.org/officeDocument/2006/relationships/notesMaster" Target="/ppt/notesMasters/notesMaster1.xml" Id="Race87446c3884b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54a9c7673e4626" /><Relationship Type="http://schemas.openxmlformats.org/officeDocument/2006/relationships/notesMaster" Target="/ppt/notesMasters/notesMaster1.xml" Id="Rd31d3460939b42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beb00b46df47f8" /><Relationship Type="http://schemas.openxmlformats.org/officeDocument/2006/relationships/notesMaster" Target="/ppt/notesMasters/notesMaster1.xml" Id="Re6869025049f4e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317e07389640e2" /><Relationship Type="http://schemas.openxmlformats.org/officeDocument/2006/relationships/notesMaster" Target="/ppt/notesMasters/notesMaster1.xml" Id="Rc1f01367722e4f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dcd966ad644c09" /><Relationship Type="http://schemas.openxmlformats.org/officeDocument/2006/relationships/notesMaster" Target="/ppt/notesMasters/notesMaster1.xml" Id="Rc3a8553202d34d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Здравствуйте. Я Беймжан Багдат, ученик десятого класса. Мой проект Kiodai посвящён перспективной памяти языковых агентов. Представим поручение: когда появится нужное условие, выполни ранее заданное действие. Агенту нужно не просто сохранить текст, а заметить подходящий момент и действовать по актуальной инструкции. На схеме показана сама задача, а не журнал эксперимента. Я проверял, помогает ли явная поддержка намерений справляться с ней лучше.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Сначала уточню, что именно я называю улучшением памяти.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Оговорка: Схема иллюстрирует задачу и не изображает экспериментальную траекторию. Kiodai пока не объявляется решением проблемы.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Рукопись Kiodai_Bagdat_Beimzhan.docx, разделы 1 и 2.1. Постановка задачи актуальна, описание стадии экспериментов в рукописи устарело.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2. Исследовательский вопрос и гипотеза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Вспомнить, какое поручение было дано, и выполнить его вовремя — разные требования. Я исследую второе. Вопрос такой: улучшает ли явная поддержка перспективной памяти своевременное выполнение по сравнению с тем же агентом без этой поддержки? Исходное ожидание состояло в том, что явные условия, действия и состояния помогут. Это гипотеза, а не заранее известный результат. PM-Bench уже оценивает такие задачи, а Prospective Intention Store использует типизированное хранилище намерений. Саму идею структурированного хранения я не заявляю как своё изобретение.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В ходе проекта эту гипотезу проверяли на разных уровнях поддержки.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Новизна не приписывается идее хранения намерений. Для финальной версии главный контраст A2 с B_ledger касается политики мониторинга.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Рукопись, разделы 1, 2.2–2.3. docs/v2_1/COMPARISON_PROTOCOL.md, Question and design. Liu G., Gabriel S., PM-Bench, 2026, https://arxiv.org/abs/2607.12385v1. Zhao J., Wu C., Making Prospective Memory SLM-Shaped, 2026, https://arxiv.org/abs/2609.01272v1.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3. Что построено и с чем сравнивается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Сначала проверялось только дополнение к инструкции, вариант A1. В небольшом пилоте A0 и A1 получили по единице Set-F1, в более длинной проверке — примерно по 0,9565. Улучшения не наблюдалось, а A1 требовал больше входных токенов. Эти проверки отделены от финального эксперимента. Затем была реализована структурированная система. В финальном сравнении A0 использует историю и разрешённые инструменты. B_ledger и A2 используют общие извлечение намерений, хранилище, проверку версий и обработку подтверждений. Различается управление запросами: у B_ledger решение принимает модель, у A2 — ограниченный программный контроллер.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Теперь покажу, в каких условиях сравнивались эти три метода.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Исторические A0/A1 не объединяются с финальным сравнением. Жизненный цикл и извлечение общие для B_ledger и A2, а не исключительное свойство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docs/v2_1/FINDINGS_AND_DEFENSE.md, Findings. docs/v2_1/COMPARISON_PROTOCOL.md, Frozen behavior. FOLLOWUP_RESULTS.md. artifacts/verification/v21-comparison-live-20260911/methods_background.md.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4. Дизайн эксперимента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финальное сравнение вошли двенадцать траекторий из четырёх семейств: видимые события, скрытые условия, перенос на другой день и изменение поручения. Каждый из трёх методов прошёл каждую траекторию один раз. Использовалась DeepSeek V3.1 через OpenRouter с провайдером Novita. Тридцать шесть запусков методов дали 288 контрольных точек и 602 вызова модели. Число вызовов и точек не является числом независимых повторов. Основная метрика — средний Set-F1 по траекториям. Она учитывает правильные действия, пропуски и лишние действия. Все сценарии были доступны при разработке, поэтому это исследование на материале разработки.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При таком дизайне основной результат выглядит следующим образом.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Один запуск на каждую пару метод–траектория. Четыре зависимых семейства. Это не чистая отложенная тестовая выборка.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docs/v2_1/COMPARISON_RESULTS.md, Execution и Primary results. research/v2_1/comparison_v1.json. docs/v2_1/COMPARISON_PROTOCOL.md, Cases, exposure and execution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5. Основной результат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этом сравнении наивысший результат получил A0: 0,8643. У B_ledger средний Set-F1 равен 0,8111, у A2 — 0,4806. Главная заранее выбранная разность A2 минус B_ledger составляет примерно минус 0,3306. Вторичная разность с A0 — примерно минус 0,3837. Это абсолютные разности по шкале метрики. Это не доля выполненных заданий или правильных вызовов. В проверенных условиях гипотеза об улучшении не получила поддержки. Статистическое отклонение гипотезы не установлено.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Качество нужно рассматривать вместе с затратами на его получение.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Это среднее по траекториям, а не micro-F1, accuracy или доля выполненных поручений. Статистическая значимость не заявляется. Разности взяты из отчёта, а не вычислены из округлённых столбцов.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docs/v2_1/COMPARISON_RESULTS.md, Primary results. results/v2_1/comparison-v1/comparison_report_reviewed.json, overall.comparisons. Отчётные значения: −0.330556 и −0.383730.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6. Ресурсные затраты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 записанным ответам API стоимость A0 составила около четырёх центов, B_ledger — двадцати одного цента, A2 — двадцати центов. A2 стоил примерно в 4,91 раза дороже A0. Дополнительные вычисления не дали улучшения в этой серии. Это стоимость именно экспериментальных вызовов по данным API, а не стоимость разработки и не сегодняшние тарифы. Вычисления методов не выровнены: различаются этапы и лимиты ответов. Поэтому результат не изолирует эффект памяти от всех различий в вычислениях.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Чтобы понять, какие проблемы скрываются за средним баллом, рассмотрим одну траекторию.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API-отчётность, независимое подтверждение биллинга отсутствует. Это не сравнение при одинаковом вычислительном бюджете.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docs/v2_1/COMPARISON_RESULTS.md, Resources and billing status. Точные суммы: A0 $0.04047361, B_ledger $0.21212084, A2 $0.19870816. На слайде пять знаков после запятой. Отношение точных сумм ≈ 4.90957.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7. Проверенный локальный сбой</a:t>
            </a:r>
          </a:p>
          <a:p xmlns:a="http://schemas.openxmlformats.org/drawingml/2006/main">
            <a:r>
              <a:t>Время: 50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эпизод из сохранённого журнала A2, показанный в переводе и сокращении. Сначала запечатать контейнер нужно было при появлении фонаря. На третьей контрольной точке пользователь заменил условие на треугольник, и агент правильно сохранил новую версию. На четвёртой точке появился старый сигнал, фонарь. Агент вернул его в запись и попытался запечатать контейнер. Симулятор не подтвердил выполнение, а оценщик зарегистрировал одно лишнее действие. На пятой точке условие восстановлено. Правильные действия состоялись позднее, но ранняя ошибка осталась в оценке. Здесь непосредственно наблюдается возврат к устаревшему условию вместе с преждевременным действием. Одного эпизода недостаточно, чтобы объяснить всё отставание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Этот пример помогает разложить систему на этапы, на которых возможны разные ошибки.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Проверенная трасса, перевод и сокращение, без вымышленных цитат. Позднее исправление сохранено в рассказе. Случай не доказывает причинный вклад в весь агрегатный разрыв.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results/v2_1/comparison-v1/v2_visible_events_91310/A2/scenario.json. steps.jsonl, строки 3–7: cp3 triangle/v2, cp4 lantern/v3, simulator_not_completed, FP=1, cp5 triangle/v4. calls.jsonl, ответы cp3–5. semantic_review.json, запись v2_visible_events_91310/A2.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8. Где может возникнуть ошибка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Между инструкцией и исполнением есть несколько этапов. Нужно понять поручение, обновить состояние, получить наблюдение и выбрать действие. В журнале наблюдаются ошибки обновления и выбора. Есть и другой пример: A2 получил положительное сообщение скрытого канала о стабилизации охлаждения, однако после ошибок проверки выбора не выполнил действие. Получение информации само по себе не гарантирует исполнения. Возможное объяснение — ошибочная интерпретация сохраняется и влияет на дальнейшие решения. На схеме это подписано как гипотеза. Мы ещё не отделили её вклад от ошибок выбора, ограничений проверки и обработки исполнения.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Поэтому важно явно отделить полученный результат от того, чего исследование пока не установило.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Наблюдаемые события и причинная гипотеза разделены. Положительное наблюдение не означает доказанную внутреннюю опору модели на 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results/v2_1/comparison-v1/v2_hidden_91320/A2/steps.jsonl, строка 7: положительный board-ответ, invalid_response_failure=true, execution=[]. calls.jsonl и failures.jsonl для cp7. docs/v2_1/COMPARISON_RESULTS.md, Relationship to earlier evidence и Semantic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9. Ограничения и вклад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Реализована система и проведено зафиксированное сравнение. Получены более низкий основной балл A2 и конкретные примеры ошибок. Но исследование не устанавливает перенос на другие модели и реальные приложения, отдельный вклад каждого компонента или успешность исправления. Сценарии были известны при разработке, семейств всего четыре, повтор один, вычисления не выровнены. Разбор ошибок выполнен с помощью ИИ, без независимой человеческой разметки. В рукописи мой вклад обозначен как постановка вопроса и разработка методики сравнения. Код и текст готовились с ИИ-помощью. Самостоятельность нужно подтверждать историей работы и защитой.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С учётом этих границ можно дать прямой ответ на исследовательский вопрос.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Не утверждать, что весь код написан самостоятельно или что семантический анализ независимо подтверждён. Авторский вклад сформулирован не шире найденной рукописи.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Рукопись, раздел 5.5. docs/v2_1/FINDINGS_AND_DEFENSE.md, Methods and discussion. artifacts/verification/v21-comparison-live-20260911/methods_background.md. research/CLAIMS.md, итоговое сравнение.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10. Вывод и следующий вопрос</a:t>
            </a:r>
          </a:p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Проверенная реализация A2 не улучшила основную метрику. Гипотеза об улучшении не получила поддержки в проверенных условиях. Следующий вопрос: какая часть потерь связана с построением и обновлением состояния намерений, а какая — с последующим исполнением? Для этого можно предложить диагностическое сравнение с эталонным состоянием, построенным только из уже доступной информации. Будущие события и скрытые ответы раскрывать нельзя. Такой эксперимент ещё не проводился. Вывод ограничен этой реализацией и серией: преимущество A2 не показано.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Далее расположены резервные слайды для вопросов.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Диагностика с эталонным состоянием — только предложенная будущая работа. Не доказана ни универсальная несостоятельность подхода, ни эффективность исправления.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docs/v2_1/COMPARISON_RESULTS.md, Interpretation and submission scope. research/CLAIMS.md. Будущая диагностика сформулирована в задании на презентацию и не является выполненным экспериментом.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A. Среднее по траекториям является основной мерой. Micro-F1 вычисляется из сумм счётчиков и имеет другие веса. Суммарные TP/FP/FN могут не отражать все неисполненные обязательства: зависимые задачи, которые не стали due, не следует произвольно добавлять в FN. Официальный оценщик не менялся. Контрасты из полного отчёта: A2−B_ledger = −0.330556, A2−A0 = −0.383730. Источник: docs/v2_1/COMPARISON_RESULTS.md; comparison_report_reviewed.json.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B. Подготовительный COMPARISON_PROTOCOL.md сохраняет историческое «not executed»; фактическое завершение подтверждено COMPARISON_RESULTS.md и журналами. Кандидат 959db38dac8b68f63ecf79420dcd53bea2278cf2. Manifest SHA-256 bfaf52df48553e35978f39f406fd5eb3d78c918a5ac2713a0a169746f23036d5. Все методы стартуют заново для каждой траектории. Порядок балансирует позиции методов, но не все возможные порядки. Вычисления не выровнены. Проверки разделения оценщика не дают абсолютной гарантии отсутствия любой утечки.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C. Счётчики включают разные сущности: запросы, успехи с доступной поддержкой и ошибки валидации выбора. Их отношения нельзя превращать в точность мониторинга без общего знаменателя. Не выполненный зависимый шаг не становится автоматически официальным FN. По сводке завершено/незавершено: A0 22+2, B_ledger 18+6, A2 12+12, при 27 instructed. Представление не объясняет это расхождение отменами и не вводит completion rate. AI-assisted semantic review не является независимой человеческой разметкой. Техническая проверка JSON не равна семантической правильности.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D. Полные ссылки: https://arxiv.org/abs/2607.12385v1; https://arxiv.org/abs/2609.01272v1; https://arxiv.org/abs/2606.23459v1. Карточки arXiv проверены 12.09.2026. PM-Bench: PM-Bench: Evaluating Prospective Memory in LLM Agents. PIS: Making Prospective Memory SLM-Shaped: Typed Intention Stores for Small-Model Agents. TriggerBench: Investigating Prospective Memory for Large Language Models. Структурированная система Kiodai является PIS-inspired инженерной интеграцией, не заявленной точной репродукцией. Рукопись, §5.5: авторский вклад в постановку вопроса и методику; ИИ используется для программирования и текста. Артефакты: results/v2_1/comparison-v1/, research/v2_1/comparison_v1.json, prompts/v2_1/, docs/v2_1/COMPARISON_RESULTS.md, artifacts/verification/v21-comparison-live-20260911/. Ссылка на публичный репозиторий не включена, потому что не была предоставлена и проверена для этой презентации.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e2ddcd7e746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a47f1f543140fe" /><Relationship Type="http://schemas.openxmlformats.org/officeDocument/2006/relationships/slideLayout" Target="/ppt/slideLayouts/slideLayout1.xml" Id="Ra1404b58308141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404b58308141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84904cba74692" /><Relationship Type="http://schemas.openxmlformats.org/officeDocument/2006/relationships/notesSlide" Target="/ppt/notesSlides/notesSlide1.xml" Id="R3f996e40e3c841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08d07a71143c4" /><Relationship Type="http://schemas.openxmlformats.org/officeDocument/2006/relationships/notesSlide" Target="/ppt/notesSlides/notesSlide2.xml" Id="Rfe7093b7520f4d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a0dc950554cb0" /><Relationship Type="http://schemas.openxmlformats.org/officeDocument/2006/relationships/notesSlide" Target="/ppt/notesSlides/notesSlide3.xml" Id="R09fe426fc83e44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1d0ea0e3d4cf9" /><Relationship Type="http://schemas.openxmlformats.org/officeDocument/2006/relationships/notesSlide" Target="/ppt/notesSlides/notesSlide4.xml" Id="R9cea4f336de745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8e799fd6a4d3d" /><Relationship Type="http://schemas.openxmlformats.org/officeDocument/2006/relationships/chart" Target="/ppt/slides/charts/chart1.xml" Id="Ra38892f202934cee" /><Relationship Type="http://schemas.openxmlformats.org/officeDocument/2006/relationships/notesSlide" Target="/ppt/notesSlides/notesSlide5.xml" Id="Rb035d0c5a8fc47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85efcf6b64eaa" /><Relationship Type="http://schemas.openxmlformats.org/officeDocument/2006/relationships/chart" Target="/ppt/slides/charts/chart2.xml" Id="Ra8c8f870cfa9486f" /><Relationship Type="http://schemas.openxmlformats.org/officeDocument/2006/relationships/notesSlide" Target="/ppt/notesSlides/notesSlide6.xml" Id="Rae64fab6228647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6ddcce5c843e3" /><Relationship Type="http://schemas.openxmlformats.org/officeDocument/2006/relationships/notesSlide" Target="/ppt/notesSlides/notesSlide7.xml" Id="R909a668b0b7b49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c80a4d1844e75" /><Relationship Type="http://schemas.openxmlformats.org/officeDocument/2006/relationships/notesSlide" Target="/ppt/notesSlides/notesSlide8.xml" Id="R4c6ebdc1d15c4d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63563f6d74b73" /><Relationship Type="http://schemas.openxmlformats.org/officeDocument/2006/relationships/notesSlide" Target="/ppt/notesSlides/notesSlide9.xml" Id="R2b9c075705ec4b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b77c530ed4006" /><Relationship Type="http://schemas.openxmlformats.org/officeDocument/2006/relationships/notesSlide" Target="/ppt/notesSlides/notesSlide10.xml" Id="R0b946eff896441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56f607cea443f" /><Relationship Type="http://schemas.openxmlformats.org/officeDocument/2006/relationships/notesSlide" Target="/ppt/notesSlides/notesSlide11.xml" Id="Rc2619f23fafa4b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2f29a19774135" /><Relationship Type="http://schemas.openxmlformats.org/officeDocument/2006/relationships/notesSlide" Target="/ppt/notesSlides/notesSlide12.xml" Id="R2a0c2c6596cd4f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5c4771c974af2" /><Relationship Type="http://schemas.openxmlformats.org/officeDocument/2006/relationships/notesSlide" Target="/ppt/notesSlides/notesSlide13.xml" Id="R7e783314010348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80ef3468f4756" /><Relationship Type="http://schemas.openxmlformats.org/officeDocument/2006/relationships/notesSlide" Target="/ppt/notesSlides/notesSlide14.xml" Id="R6895cbf106fe463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Средний Set-F1 по траекториям</c:v>
          </c:tx>
          <c:spPr>
            <a:solidFill xmlns:a="http://schemas.openxmlformats.org/drawingml/2006/main">
              <a:srgbClr val="2D5E7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644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6827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5E7C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A2</c:v>
                </c:pt>
                <c:pt idx="1">
                  <c:v>B_ledger</c:v>
                </c:pt>
                <c:pt idx="2">
                  <c:v>A0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0.4806</c:v>
                </c:pt>
                <c:pt idx="1">
                  <c:v>0.8111</c:v>
                </c:pt>
                <c:pt idx="2">
                  <c:v>0.8643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72B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EDF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5DE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API cost, USD</c:v>
          </c:tx>
          <c:spPr>
            <a:solidFill xmlns:a="http://schemas.openxmlformats.org/drawingml/2006/main">
              <a:srgbClr val="2D5E7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644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6827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5E7C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A2</c:v>
                </c:pt>
                <c:pt idx="1">
                  <c:v>B_ledger</c:v>
                </c:pt>
                <c:pt idx="2">
                  <c:v>A0</c:v>
                </c:pt>
              </c:strCache>
            </c:strRef>
          </c:cat>
          <c:val>
            <c:numRef>
              <c:f>'Chart Data'!$B$2:$B$4</c:f>
              <c:numCache>
                <c:formatCode>$0.00000</c:formatCode>
                <c:ptCount val="3"/>
                <c:pt idx="0">
                  <c:v>0.19871</c:v>
                </c:pt>
                <c:pt idx="1">
                  <c:v>0.21212</c:v>
                </c:pt>
                <c:pt idx="2">
                  <c:v>0.04047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72B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EDF"/>
              </a:solidFill>
              <a:prstDash val="solid"/>
            </a:ln>
          </c:spPr>
        </c:majorGridlines>
        <c:numFmt formatCode="$0.00"/>
        <c:majorTickMark val="none"/>
        <c:minorTickMark val="none"/>
        <c:spPr>
          <a:ln xmlns:a="http://schemas.openxmlformats.org/drawingml/2006/main" w="9525">
            <a:solidFill>
              <a:srgbClr val="D5DE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0B147-DE73-498B-8DB8-DEEE09D2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Kiodai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0F782-8999-42EC-AD26-5415E564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5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Структурированная перспективная память</a:t>
            </a:r>
          </a:p>
          <a:p xmlns:a="http://schemas.openxmlformats.org/drawingml/2006/main">
            <a:pPr algn="l">
              <a:defRPr sz="292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языковых ИИ-агентов и методика её оценки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92E15-4C89-4076-BCFC-3EF553FB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Беймжан Багдат, 10 класс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B7EAD-A6D0-446D-A909-247DBEEE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Назарбаев Интеллектуальная школа естественно-математического</a:t>
            </a:r>
          </a:p>
          <a:p xmlns:a="http://schemas.openxmlformats.org/drawingml/2006/main">
            <a:pPr algn="l">
              <a:defRPr sz="18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направления района Нура города Астаны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8DD97-2A86-429C-9A61-CB38F177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Руководитель: Омаров Абылайхан Бауржанович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D5A29-420B-4105-A29D-75E45795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53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Когда появится нужное условие, выполни ранее заданное поручение.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7070F-4759-4E4C-9501-93230F43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619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Поручение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B9C34-EA71-4B0A-940E-A38A8D42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143500"/>
            <a:ext cx="3752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Другая деятельность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97FF2-2B4C-45D5-B887-47E2CFA5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143500"/>
            <a:ext cx="3228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Условие и действие</a:t>
            </a:r>
          </a:p>
        </p:txBody>
      </p: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28975" y="5448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67625" y="5448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584CE-EDEB-4900-BB1F-2DE7D207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Схема задачи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7262F-1CF8-44A6-A2D4-F2FA1C61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7C227-D78A-4848-9440-408F02AE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Астана, 2026    Секция: информатика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C83DC-2D4F-41D7-8254-5535EFF5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28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28634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A3F6F-919C-4DDF-8C7C-AAAA0F6A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Исследовательский вопрос и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44CBC-56B8-4CC2-888D-F9FD5A6C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67BEC-0725-4FF9-891E-03FCD638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рукопись, § 1–2; PM-Bench (2026); PIS (2026)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1D071-FA0C-4E55-A6FC-5D7FBF37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C137A-318E-4C8F-B16E-F8A54BAE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Вспомнить поручение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C18A5-A9B9-4CCE-AC7F-E1D48F55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5260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Выполнить его вовремя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D7FA9-4982-4BE9-A644-E8A70178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10C01-1687-4954-9825-4AD3248C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Помогает ли явная поддержка намерений</a:t>
            </a:r>
          </a:p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действовать вовремя по сравнению с тем же</a:t>
            </a:r>
          </a:p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агентом без такой поддержки?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498CE-4C8A-4646-910F-1933E49F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Гипотеза: условия, действия и состояния</a:t>
            </a:r>
          </a:p>
          <a:p xmlns:a="http://schemas.openxmlformats.org/drawingml/2006/main">
            <a:pPr algn="l">
              <a:defRPr sz="24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 явном виде повысят качество.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5BE92-773C-4BCE-B246-A0149DDE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Структурированное хранение уже исследуется в PIS.</a:t>
            </a:r>
          </a:p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Сама идея хранения не заявляется как новая.</a:t>
            </a:r>
          </a:p>
        </p:txBody>
      </p:sp>
    </p:spTree>
    <p:extLst>
      <p:ext uri="{BB962C8B-B14F-4D97-AF65-F5344CB8AC3E}">
        <p14:creationId xmlns:p14="http://schemas.microsoft.com/office/powerpoint/2010/main" val="607751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D1F2F-5D4C-406B-91D3-7992B26A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Что построено и с чем сравнивается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9166A-04D5-4A94-AB9B-3BEF10C7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93790-2FD1-4EBF-A38D-E73AAAE6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FOLLOWUP_RESULTS; замороженный протокол comparison-v1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5166D-B67A-496C-A1FC-FDE6C90D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8B834-5CEB-456F-ABF3-FEA4F9BB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76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Исторические пилоты A1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55DDF-E521-4A21-B045-341CEAFD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32385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Дополнение к инструкции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A0 = A1: 1,00</a:t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Позднее: ≈ 0,9565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Больше входных токенов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35787-52D8-41B6-B4E6-12BE92DC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E8757-9BFB-4B91-8C77-B3F0984F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0" cy="40290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E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CA6C8-518E-4A12-92DE-0A6260B4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76400"/>
            <a:ext cx="647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Финальное сравнение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8BAA5-F0B9-420B-A25C-B2AF8CF6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5E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D5E7C"/>
                </a:solidFill>
                <a:latin typeface="Arial"/>
                <a:ea typeface="Arial"/>
                <a:cs typeface="Arial"/>
              </a:rPr>
              <a:t>A0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6847B-EAC2-4430-8232-050F853C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История и разрешённые инструменты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89940-E954-4DA3-8455-D4FC009E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95625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5C1EA-B506-4DD5-BB68-53E29DA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Общие извлечение, хранилище, версии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обработка подтверждений: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BB9FD-D503-4B60-892C-7D8A93BF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67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B_ledger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8C397-B869-420C-A76E-D414F2B1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95775"/>
            <a:ext cx="4705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Запросами управляет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BADC7-F8A0-416E-ABF1-1934CB79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19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2BBC7-B468-4CC4-9A78-C556722C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Запросами управляет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ограниченный контроллер</a:t>
            </a:r>
          </a:p>
        </p:txBody>
      </p:sp>
    </p:spTree>
    <p:extLst>
      <p:ext uri="{BB962C8B-B14F-4D97-AF65-F5344CB8AC3E}">
        <p14:creationId xmlns:p14="http://schemas.microsoft.com/office/powerpoint/2010/main" val="1845504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CEF7B-1C1F-46C1-96CE-8D2CDC83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Дизайн эксперимента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E6FED-19C2-4AC2-831F-E30B23A4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EBCB7-9412-4D8F-8CB2-98EC6877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comparison-v1, протокол и итоговый отчёт от 11.09.2026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E5709-751D-4A1A-B263-7893A9AD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03565-48B2-4F5C-8F26-393E81A6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93433-7C88-4A6F-A401-32800F5F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траекторий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6AA68-DFFE-4BFD-825A-EDDA4F31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52C11-8A3E-47BE-993F-28EE17A8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семейства шаблонов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027F6-C099-4469-B3CF-41B69EE5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0A9E1-5627-4D9B-A0FE-030D2689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метода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9EB12-9C2D-4619-A6B8-EBDDC970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События, скрытые условия, другой день, изменения поручений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BBD57-4099-462A-891C-7B645C8D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35490-954C-4C1F-8531-D34493F2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DeepSeek V3.1 через OpenRouter / Novita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98FFD-A971-4674-824E-C64D48D3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36 запусков методов, 288 контрольных точек, 602 вызова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E5453-8D85-4790-BC32-B9F58F41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Set-F1 учитывает правильные действия, пропуски и лишние действия.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8FE4B-1A2F-4088-A5C1-457CA733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Сценарии разработки; один запуск на условие.</a:t>
            </a:r>
          </a:p>
        </p:txBody>
      </p:sp>
    </p:spTree>
    <p:extLst>
      <p:ext uri="{BB962C8B-B14F-4D97-AF65-F5344CB8AC3E}">
        <p14:creationId xmlns:p14="http://schemas.microsoft.com/office/powerpoint/2010/main" val="12687014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95BA5-A9C2-43C2-917E-CDBA4018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 этом сравнении A0 получил</a:t>
            </a:r>
          </a:p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наивысший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50945-A934-4477-91CF-83F770F7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3AB60-2FF5-465A-A19C-93EE0598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Primary results; comparison_report_reviewed.json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F1C04-9DF5-40EA-B3BC-4036B206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561B9-35B5-4DC8-A166-032684D6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Средний Set-F1 по траекториям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10668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8892f202934ce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A8CC1-B20B-49CC-84A4-8DA157C0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A2 − B_ledger ≈ −0,3306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72B1D-7358-4A72-AA74-F00F0794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10200"/>
            <a:ext cx="5067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A2 − A0 ≈ −0,3837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599C2-BEF7-4951-8A51-1CBD877B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Основная разность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44C3A-CE12-4024-93DD-BBE797D4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57875"/>
            <a:ext cx="506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Вторичная разность</a:t>
            </a:r>
          </a:p>
        </p:txBody>
      </p:sp>
    </p:spTree>
    <p:extLst>
      <p:ext uri="{BB962C8B-B14F-4D97-AF65-F5344CB8AC3E}">
        <p14:creationId xmlns:p14="http://schemas.microsoft.com/office/powerpoint/2010/main" val="2061865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EDC9C-AE6A-4B2B-B7DD-6268B04B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Дополнительные вычисления не дали</a:t>
            </a:r>
          </a:p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улучшения в этой серии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1D996-0C05-46D6-BD8B-F931FC01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D6463-B220-4920-8F4E-D26392A4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Resources and billing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9B470-1E21-4A28-9992-4D62DA0B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304E4-1DC9-4332-AD1D-158F317B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Записанная стоимость API, USD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10668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c8f870cfa9486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B1797-1397-40A2-91FB-A18C2197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 / A0 ≈ 4,91 раза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63659-C569-44AB-908E-ACCC9DA5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Стоимость этой серии по API. Не текущие тарифы и не затраты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17662475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50D8E-A7C7-47AA-86E1-E95CBDFC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После замены условия вернулся старый триггер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A5D2D-496A-4749-A7FE-09D8CB1D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73A70-BFEF-4FE8-B873-1BABA07D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Трасса A2: v2_visible_events_91310, steps.jsonl, точки 3–7; перевод и сокращение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2ABEF-226C-4332-98CA-D88BE42E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C10E9-88B3-4052-B300-03BD9752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Поручение: запечатать контейнер при новом сигнале «треугольник».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E9CE4-A721-4CF8-A773-262D4DBE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08610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Точка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Сохранён</a:t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треугольник</a:t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Версия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D8B13-DA64-43CE-881C-D64E51D1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3105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Точка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Появился фонарь</a:t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Он вернулся в запись</a:t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Версия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7E14D-B6B4-44E3-A31F-124CB1AD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3105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Попытка запечатать</a:t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Без подтверждения</a:t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FP = 1</a:t>
            </a:r>
          </a:p>
        </p:txBody>
      </p: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95700" y="37290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39050" y="37290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EE884-2463-448A-8C4D-E32C4637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Точка 5: условие восстановлено. Ранняя ошибка осталась в оценке.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561E0-970C-43DD-815B-FBE64B24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Локальная ошибка обновления и действия. Причина общего отставания не установлена.</a:t>
            </a:r>
          </a:p>
        </p:txBody>
      </p:sp>
    </p:spTree>
    <p:extLst>
      <p:ext uri="{BB962C8B-B14F-4D97-AF65-F5344CB8AC3E}">
        <p14:creationId xmlns:p14="http://schemas.microsoft.com/office/powerpoint/2010/main" val="20623159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B61C2-CC0B-4E64-83E5-41DF4C4A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Где может возникнуть ошибка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6E375-CB46-4B4B-94CA-BCD5E752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C0224-499E-419C-AF52-4A0569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журналы A2 visible_events_91310 и hidden_91320; семантический разбор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2E164-2D20-49F6-AA9B-EC56997B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9DC50-15F1-4AFA-BED3-DA6F1714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12843-D926-4069-8243-BBBB963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Интерпре-</a:t>
            </a:r>
          </a:p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тация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948BC-9FF3-4FB9-AE88-65EC32DA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Состояние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2CD1C-45AB-4A4E-AE21-837CCFFC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Пересмотр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29185-C9EA-4EA3-8AA6-3CAFE90B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Мониторинг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C9155-2A38-47F9-BA6A-945F751D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Выбор</a:t>
            </a:r>
          </a:p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286B1-19A9-4503-A8A2-69C54A2F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Исполнение</a:t>
            </a:r>
          </a:p>
        </p:txBody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3835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2902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21970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81037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40105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99172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2BFE4-B803-46DA-99F6-85156EAE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Наблюдается в журналах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D5233-2282-4FD5-BD1B-A4489F83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477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Старое условие вернулось в запись.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Положительный ответ скрытого канала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получен, но действие не выполнено.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A881E-44B1-4280-87BE-99C7C5EC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3771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Возможное объяснение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FA794-A307-4542-9922-D2D45EA8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7719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Ошибочная интерпретация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может влиять на следующие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решения. Вклад не изолирован.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C86627-6BB2-401A-9ED8-728836B5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Наличие сохранённой информации само по себе</a:t>
            </a:r>
          </a:p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 обеспечило правильного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6393060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AC51F-0461-49B2-AE3A-5E49B886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Ограничения и фактический вклад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5ACDE-DC43-4CA2-A3F0-1CF46ED1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F0CEC-FEFC-479B-A9FA-EAA83D61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итоговый отчёт, Methods and discussion; рукопись, § 5.5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4A4CA-C798-4AD3-821E-9941E131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5E80D-17F6-435D-A0B3-8DF0F4F2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Установлено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C24D0-23F2-4FB7-B3E6-80DD0210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0673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Система реализована и сравнена.</a:t>
            </a:r>
          </a:p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 A2 самый низкий основной балл.</a:t>
            </a:r>
          </a:p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 журналах есть конкретные сбои.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8C382-951B-45B0-B02F-C20DFADA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24025"/>
            <a:ext cx="5086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 установлено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B1D6C-F550-4221-8661-0D85C42E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50863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Перенос на другие модели и практику.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Результат на закрытой выборке.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Причинный вклад каждого этапа.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Успешность исправления.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C191F-82D9-438A-AF56-6A8546BD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6EFD9-429F-4695-A8E8-E00A5497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4 семейства, 1 запуск на условие, известные сценарии,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неравные вычисления, разбор ошибок с ИИ-помощью.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36183-153E-4E62-80B7-66E70DF4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Вклад автора: вопрос и методика сравнения.</a:t>
            </a:r>
          </a:p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Код и текст подготовлены с ИИ-помощью.</a:t>
            </a:r>
          </a:p>
        </p:txBody>
      </p:sp>
    </p:spTree>
    <p:extLst>
      <p:ext uri="{BB962C8B-B14F-4D97-AF65-F5344CB8AC3E}">
        <p14:creationId xmlns:p14="http://schemas.microsoft.com/office/powerpoint/2010/main" val="10651235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B14EA-5F6F-41BC-8276-C7559D30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Проверенная A2 не улучшила основную метрику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BFC92-0580-4CB4-A5BE-68D5B289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975C4-4C75-46B4-828F-1A11D961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финальное сравнение v2.1; диагностика с эталонным состоянием предложена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BDB0A-BE4D-47F7-AE7F-0F2E781A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80B68-1BC7-433E-9B35-3A4BDEF9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Гипотеза об улучшении не получила</a:t>
            </a:r>
          </a:p>
          <a:p xmlns:a="http://schemas.openxmlformats.org/drawingml/2006/main">
            <a:pPr algn="l">
              <a:defRPr sz="32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поддержки в проверенных условиях.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08184-32C5-41F1-A4E4-1C588ABF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1B951-5178-4EFF-8ECE-8FF9D21C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Следующий вопрос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3B373-E8D1-455E-AD02-AA03C0A8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Какая часть потерь возникает при построении</a:t>
            </a:r>
          </a:p>
          <a:p xmlns:a="http://schemas.openxmlformats.org/drawingml/2006/main">
            <a:pPr algn="l">
              <a:defRPr sz="25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обновлении намерений, а какая при исполнении?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E5771-C778-47F8-AECD-C4B0DBCC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Предложение: диагностика с эталонным состоянием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только из доступной к шагу информации. Ещё не проведена.</a:t>
            </a:r>
          </a:p>
        </p:txBody>
      </p:sp>
    </p:spTree>
    <p:extLst>
      <p:ext uri="{BB962C8B-B14F-4D97-AF65-F5344CB8AC3E}">
        <p14:creationId xmlns:p14="http://schemas.microsoft.com/office/powerpoint/2010/main" val="4148769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E4AFD-363E-47AC-A397-7000E0CD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A2860-91D0-402A-93BF-7025EEE2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Метрики и полные 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69746-3844-484D-8BA2-750AF94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42A87-EC4D-4DB5-8350-1B4FFBB2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Primary results и Resources; все 12 траекторий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91E77-2922-40BB-AFFA-D8ABA724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2447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1524000"/>
                <a:gridCol w="1381125"/>
                <a:gridCol w="714375"/>
                <a:gridCol w="714375"/>
                <a:gridCol w="714375"/>
                <a:gridCol w="1476375"/>
                <a:gridCol w="2781300"/>
              </a:tblGrid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Среднее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Micro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Вызовы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API, USD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2D5E7C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0,8643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0,8462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117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0,04047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368276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0,8111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0,8372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0,21212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A76449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0,4806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0,6667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234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0,19871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C9FB6-EBC5-4276-85A1-F37DAAA0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Set-F1 = 2TP / (2TP + FP + FN)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5EC19-8707-457C-AE5C-F60208EF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TP: верное действие. FP: лишнее. FN: пропущенное.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81293-2922-41B6-AF79-9A36561C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Среднее: равный вес каждой траектории. Micro: сначала сумма TP, FP, FN.</a:t>
            </a:r>
          </a:p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Суммарные счётчики не восстанавливают распределение оценок по траекториям.</a:t>
            </a:r>
          </a:p>
        </p:txBody>
      </p:sp>
    </p:spTree>
    <p:extLst>
      <p:ext uri="{BB962C8B-B14F-4D97-AF65-F5344CB8AC3E}">
        <p14:creationId xmlns:p14="http://schemas.microsoft.com/office/powerpoint/2010/main" val="14480934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B1D0EA-439A-4102-90F9-D567E610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1236E-DF20-484E-9B7F-846B5F07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Валидность сравнения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F0790-5712-4F16-9A6D-7227CF94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A31A7-4BAA-454B-A0EB-34503A9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comparison_v1.json; COMPARISON_PROTOCOL; COMPARISON_RESULTS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B8D62-62E0-4455-8EBC-994E5556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6B313-1271-489D-ACB2-23DFDA68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Парные условия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AD46C-E67C-495B-9B5E-08D85BCD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05000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Одинаковые стартовые инструкции, инструменты и 8 точек.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 каждого метода своё состояние и последующая история.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E7CA6-9585-4675-9826-178F74FF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DDCC6-750F-4114-8211-04A4318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Экспозиция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1AA3F-7C7F-4E60-8B62-1C234149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90825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Все 12 сценариев известны при разработке.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Одна траектория также использовалась в сетевой smoke-проверке.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98B22-1246-4AD9-968C-509F9BEF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77DCE-276D-4715-BA47-23F7C798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Фиксация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91AB8-35BA-4505-B23C-B85F8D41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76650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Конфигурация, промпты и сценарии заморожены до запуска.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Итоговый отчёт фиксирует завершение и сохранение ошибок.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697C2-2FDC-48B8-9EE4-956544A3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215B8-2B27-4B01-9B20-6FF41A32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Граница оценивания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D17F0-88BF-4E76-A11B-DD41032E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Эталонные ответы остаются на стороне оценщика.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Невалидный ответ после повтора даёт отсутствие действия.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4E9A0-17CB-4405-8E87-62CB4B7C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288 точек и 602 вызова принадлежат тем же траекториям.</a:t>
            </a:r>
          </a:p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Это нагрузка, а не независимые повторения.</a:t>
            </a:r>
          </a:p>
        </p:txBody>
      </p:sp>
    </p:spTree>
    <p:extLst>
      <p:ext uri="{BB962C8B-B14F-4D97-AF65-F5344CB8AC3E}">
        <p14:creationId xmlns:p14="http://schemas.microsoft.com/office/powerpoint/2010/main" val="45999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AB4D3-8720-4205-94E8-84053CFB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5066B-A445-4A3D-B47A-DC48D684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Диагностика и её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C24D0-6B05-4C49-B97B-C2FA2AA0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75FAC-EC77-4CA8-97BC-B6C681A0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COMPARISON_RESULTS; semantic_review.json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009C8-F2A7-4647-8913-23D047D5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1590675"/>
                <a:gridCol w="1600200"/>
                <a:gridCol w="1590675"/>
              </a:tblGrid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Счётчик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2D5E7C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368276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A76449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Запросы скрытого канала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Успехи с опорой на запрос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Ошибки проверки выбора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EB37D-97E2-42D4-BD90-27E0EBA7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Больше запросов не означает больше успешных действий.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Ошибки проверки не равны числу ошибочных намерений.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ACEEF-D972-4C72-B3AD-FE9E6031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Неясность учёта: 27 поручений, но завершённые</a:t>
            </a:r>
          </a:p>
          <a:p xmlns:a="http://schemas.openxmlformats.org/drawingml/2006/main">
            <a:pPr algn="l">
              <a:defRPr sz="225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и незавершённые в сводке дают 24 на метод.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E9E49-7798-4187-A0B1-0267DF7A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Причина расхождения не установлена. Первичная ошибка и её последствия различаются.</a:t>
            </a:r>
          </a:p>
        </p:txBody>
      </p:sp>
    </p:spTree>
    <p:extLst>
      <p:ext uri="{BB962C8B-B14F-4D97-AF65-F5344CB8AC3E}">
        <p14:creationId xmlns:p14="http://schemas.microsoft.com/office/powerpoint/2010/main" val="6359523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3D14D-A381-404C-B76E-A8277E90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1CA05-C9CB-4FBB-9835-0F5F3E35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Источники, авторство и воспроизводимость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EA8C4-08AA-4919-B153-F426B44C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41595-F525-44B8-BA09-1B108BF7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Полные локальные пути и проверенные ссылки приведены в заметках и записке об источниках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D59D9-62B9-46AA-A5DF-07D7FD7B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F128A-BB93-4EAE-AF33-31A8D2AC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628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Предшествующие работы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3BFA9-7A4F-41D2-9D1D-E05270B5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9340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Liu G., Gabriel S. PM-Bench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Постановка задачи, среда и Set-F1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arXiv:2607.12385v1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3D93A-F03D-42E8-942C-412F59C6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0769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Zhao J., Wu C. Typed Intention Stores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PIS: типизированные намерения и жизненный цикл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arXiv:2609.01272v1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2DA91-131A-42C3-86AC-07C847C9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5972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Zhang T. et al. TriggerBench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Проверка условий срабатывания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arXiv:2606.23459v1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FE307-5589-4B94-A8F1-F33E96BE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57375"/>
            <a:ext cx="4295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Автор и доступные материалы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42F3E-AF6D-4057-8352-EDED9E6F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90825"/>
            <a:ext cx="42957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Вопрос и методика сравнения.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ИИ помогал с кодом, текстом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разбором ошибок.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23526-1A7D-441F-8925-8A3DBDD0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05275"/>
            <a:ext cx="42957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Локально сохранены код,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промпты, конфигурации,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запросы, ответы и оценки.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F20BF-0734-4181-95B7-83AA209E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81650"/>
            <a:ext cx="4295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Код сам по себе не доказывает</a:t>
            </a:r>
          </a:p>
          <a:p xmlns:a="http://schemas.openxmlformats.org/drawingml/2006/main">
            <a:pPr algn="l">
              <a:defRPr sz="172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самостоятельность и корректность.</a:t>
            </a:r>
          </a:p>
        </p:txBody>
      </p:sp>
    </p:spTree>
    <p:extLst>
      <p:ext uri="{BB962C8B-B14F-4D97-AF65-F5344CB8AC3E}">
        <p14:creationId xmlns:p14="http://schemas.microsoft.com/office/powerpoint/2010/main" val="436263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2026-09-12T07:15:12.6460000Z</dcterms:created>
  <dcterms:modified xsi:type="dcterms:W3CDTF">2026-09-12T07:15:12.6460000Z</dcterms:modified>
</coreProperties>
</file>