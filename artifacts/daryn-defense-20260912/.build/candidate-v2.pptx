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80920661964113" /><Relationship Type="http://schemas.openxmlformats.org/officeDocument/2006/relationships/extended-properties" Target="/docProps/app.xml" Id="R1ccc730023d34fb7" /><Relationship Type="http://schemas.openxmlformats.org/officeDocument/2006/relationships/officeDocument" Target="/ppt/presentation.xml" Id="R277dd836fd91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351ba6f0c4646"/>
  </p:sldMasterIdLst>
  <p:notesMasterIdLst>
    <p:notesMasterId xmlns:r="http://schemas.openxmlformats.org/officeDocument/2006/relationships" r:id="Re04562f3c65a499f"/>
  </p:notesMasterIdLst>
  <p:sldIdLst>
    <p:sldId xmlns:r="http://schemas.openxmlformats.org/officeDocument/2006/relationships" id="256" r:id="R4f1efbab04494461"/>
    <p:sldId xmlns:r="http://schemas.openxmlformats.org/officeDocument/2006/relationships" id="257" r:id="Re20f1d4c355c4340"/>
    <p:sldId xmlns:r="http://schemas.openxmlformats.org/officeDocument/2006/relationships" id="258" r:id="R6d6ed83049524e86"/>
    <p:sldId xmlns:r="http://schemas.openxmlformats.org/officeDocument/2006/relationships" id="259" r:id="R4c7bbace3a774f59"/>
    <p:sldId xmlns:r="http://schemas.openxmlformats.org/officeDocument/2006/relationships" id="260" r:id="R4f024d893bae4094"/>
    <p:sldId xmlns:r="http://schemas.openxmlformats.org/officeDocument/2006/relationships" id="261" r:id="Rc9247ecd45a94439"/>
    <p:sldId xmlns:r="http://schemas.openxmlformats.org/officeDocument/2006/relationships" id="262" r:id="R9225007ae022498f"/>
    <p:sldId xmlns:r="http://schemas.openxmlformats.org/officeDocument/2006/relationships" id="263" r:id="R9f94623a7bda4ced"/>
    <p:sldId xmlns:r="http://schemas.openxmlformats.org/officeDocument/2006/relationships" id="264" r:id="R54256c339c054d0d"/>
    <p:sldId xmlns:r="http://schemas.openxmlformats.org/officeDocument/2006/relationships" id="265" r:id="Rc04c417b80da4ff0"/>
    <p:sldId xmlns:r="http://schemas.openxmlformats.org/officeDocument/2006/relationships" id="266" r:id="R5afbc9f0c3a7430a"/>
    <p:sldId xmlns:r="http://schemas.openxmlformats.org/officeDocument/2006/relationships" id="267" r:id="Rbb9ced2c9fc64d5e"/>
    <p:sldId xmlns:r="http://schemas.openxmlformats.org/officeDocument/2006/relationships" id="268" r:id="Rd631886ad9a84590"/>
    <p:sldId xmlns:r="http://schemas.openxmlformats.org/officeDocument/2006/relationships" id="269" r:id="R09ae136e4d934f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67b27b9f94d44" /><Relationship Type="http://schemas.openxmlformats.org/officeDocument/2006/relationships/slideMaster" Target="/ppt/slideMasters/slideMaster1.xml" Id="R9f1351ba6f0c4646" /><Relationship Type="http://schemas.openxmlformats.org/officeDocument/2006/relationships/notesMaster" Target="/ppt/notesMasters/notesMaster1.xml" Id="Re04562f3c65a499f" /><Relationship Type="http://schemas.openxmlformats.org/officeDocument/2006/relationships/presProps" Target="/ppt/presProps.xml" Id="Rdc80d4b8895b4e49" /><Relationship Type="http://schemas.openxmlformats.org/officeDocument/2006/relationships/tableStyles" Target="/ppt/tableStyles.xml" Id="R28bbb6fe8edf4daa" /><Relationship Type="http://schemas.openxmlformats.org/officeDocument/2006/relationships/slide" Target="/ppt/slides/slide1.xml" Id="R4f1efbab04494461" /><Relationship Type="http://schemas.openxmlformats.org/officeDocument/2006/relationships/slide" Target="/ppt/slides/slide2.xml" Id="Re20f1d4c355c4340" /><Relationship Type="http://schemas.openxmlformats.org/officeDocument/2006/relationships/slide" Target="/ppt/slides/slide3.xml" Id="R6d6ed83049524e86" /><Relationship Type="http://schemas.openxmlformats.org/officeDocument/2006/relationships/slide" Target="/ppt/slides/slide4.xml" Id="R4c7bbace3a774f59" /><Relationship Type="http://schemas.openxmlformats.org/officeDocument/2006/relationships/slide" Target="/ppt/slides/slide5.xml" Id="R4f024d893bae4094" /><Relationship Type="http://schemas.openxmlformats.org/officeDocument/2006/relationships/slide" Target="/ppt/slides/slide6.xml" Id="Rc9247ecd45a94439" /><Relationship Type="http://schemas.openxmlformats.org/officeDocument/2006/relationships/slide" Target="/ppt/slides/slide7.xml" Id="R9225007ae022498f" /><Relationship Type="http://schemas.openxmlformats.org/officeDocument/2006/relationships/slide" Target="/ppt/slides/slide8.xml" Id="R9f94623a7bda4ced" /><Relationship Type="http://schemas.openxmlformats.org/officeDocument/2006/relationships/slide" Target="/ppt/slides/slide9.xml" Id="R54256c339c054d0d" /><Relationship Type="http://schemas.openxmlformats.org/officeDocument/2006/relationships/slide" Target="/ppt/slides/slide10.xml" Id="Rc04c417b80da4ff0" /><Relationship Type="http://schemas.openxmlformats.org/officeDocument/2006/relationships/slide" Target="/ppt/slides/slide11.xml" Id="R5afbc9f0c3a7430a" /><Relationship Type="http://schemas.openxmlformats.org/officeDocument/2006/relationships/slide" Target="/ppt/slides/slide12.xml" Id="Rbb9ced2c9fc64d5e" /><Relationship Type="http://schemas.openxmlformats.org/officeDocument/2006/relationships/slide" Target="/ppt/slides/slide13.xml" Id="Rd631886ad9a84590" /><Relationship Type="http://schemas.openxmlformats.org/officeDocument/2006/relationships/slide" Target="/ppt/slides/slide14.xml" Id="R09ae136e4d934f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86f5f6168c4b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51b79cb874a3b" /><Relationship Type="http://schemas.openxmlformats.org/officeDocument/2006/relationships/notesMaster" Target="/ppt/notesMasters/notesMaster1.xml" Id="R7e8a12e5c3e442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a4969c59cb48cb" /><Relationship Type="http://schemas.openxmlformats.org/officeDocument/2006/relationships/notesMaster" Target="/ppt/notesMasters/notesMaster1.xml" Id="Rf5a34701cdbd4a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3986e0ca9b4397" /><Relationship Type="http://schemas.openxmlformats.org/officeDocument/2006/relationships/notesMaster" Target="/ppt/notesMasters/notesMaster1.xml" Id="R426860fac020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1e504fb5fc4acd" /><Relationship Type="http://schemas.openxmlformats.org/officeDocument/2006/relationships/notesMaster" Target="/ppt/notesMasters/notesMaster1.xml" Id="R74322324f65e43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f85befdbff4f64" /><Relationship Type="http://schemas.openxmlformats.org/officeDocument/2006/relationships/notesMaster" Target="/ppt/notesMasters/notesMaster1.xml" Id="Rd003d0b10e1744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eed014d574255" /><Relationship Type="http://schemas.openxmlformats.org/officeDocument/2006/relationships/notesMaster" Target="/ppt/notesMasters/notesMaster1.xml" Id="Rc3a96447c13b47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1e68855c0400d" /><Relationship Type="http://schemas.openxmlformats.org/officeDocument/2006/relationships/notesMaster" Target="/ppt/notesMasters/notesMaster1.xml" Id="R4dc4ece9d103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8c812368d4e09" /><Relationship Type="http://schemas.openxmlformats.org/officeDocument/2006/relationships/notesMaster" Target="/ppt/notesMasters/notesMaster1.xml" Id="Rf2c645f7025b4a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50c1f43ae44435" /><Relationship Type="http://schemas.openxmlformats.org/officeDocument/2006/relationships/notesMaster" Target="/ppt/notesMasters/notesMaster1.xml" Id="Rac21e0329605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d990afda7b46dc" /><Relationship Type="http://schemas.openxmlformats.org/officeDocument/2006/relationships/notesMaster" Target="/ppt/notesMasters/notesMaster1.xml" Id="Rd2e16e2c6de84f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2f1d2c3d204a60" /><Relationship Type="http://schemas.openxmlformats.org/officeDocument/2006/relationships/notesMaster" Target="/ppt/notesMasters/notesMaster1.xml" Id="Ra815e23410604d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b8ad45555947e8" /><Relationship Type="http://schemas.openxmlformats.org/officeDocument/2006/relationships/notesMaster" Target="/ppt/notesMasters/notesMaster1.xml" Id="R995b8fcb2d4748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cdd8680f47475b" /><Relationship Type="http://schemas.openxmlformats.org/officeDocument/2006/relationships/notesMaster" Target="/ppt/notesMasters/notesMaster1.xml" Id="R976cdab24b6b4c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bbcda4fa484838" /><Relationship Type="http://schemas.openxmlformats.org/officeDocument/2006/relationships/notesMaster" Target="/ppt/notesMasters/notesMaster1.xml" Id="R0245c4dc075641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Здравствуйте. Я Беймжан Багдат, ученик десятого класса. Мой проект Kiodai посвящён перспективной памяти языковых агентов. Представим поручение: когда появится нужное условие, выполни ранее заданное действие. Агенту нужно не просто сохранить текст, а заметить подходящий момент и действовать по актуальной инструкции. На схеме показана сама задача, а не журнал эксперимента. Я проверял, помогает ли явная поддержка намерений справляться с ней лучше.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Сначала уточню, что именно я называю улучшением памяти.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Оговорка: Схема иллюстрирует задачу и не изображает экспериментальную траекторию. Kiodai пока не объявляется решением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Актуальная статья: /Users/bagnesium/Documents/GitHub/Kiodai/output/daryn_2026/source/manuscript.md, разделы 1 и 2.1. Историческая рукопись в Downloads использована только для идентичности проекта и сверки развития постановки.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Исследовательский вопрос и гипотеза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Вспомнить, какое поручение было дано, и выполнить его вовремя — разные требования. Я исследую второе. Вопрос такой: улучшает ли явная поддержка перспективной памяти своевременное выполнение по сравнению с тем же агентом без этой поддержки? Исходное ожидание состояло в том, что явные условия, действия и состояния помогут. Это гипотеза, а не заранее известный результат. PM-Bench уже оценивает такие задачи, а Prospective Intention Store использует типизированное хранилище намерений. Саму идею структурированного хранения я не заявляю как своё изобретение.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В ходе проекта эту гипотезу проверяли на разных уровнях поддержки.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Новизна не приписывается идее хранения намерений. Для финальной версии главный контраст A2 с B_ledger касается политики мониторинга.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1–2. Рукопись, разделы 1, 2.2–2.3. docs/v2_1/COMPARISON_PROTOCOL.md, Question and design. Liu G., Gabriel S., PM-Bench, 2026, https://arxiv.org/abs/2607.12385v1. Zhao J., Wu C., Making Prospective Memory SLM-Shaped, 2026, https://arxiv.org/abs/2609.01272v1.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Что построено и с чем сравнивается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Сначала проверялось только дополнение к инструкции, вариант A1. В небольшом пилоте A0 и A1 получили по единице Set-F1, в более длинной проверке — примерно по 0,9565. Улучшения не наблюдалось, а A1 требовал больше входных токенов. Эти проверки отделены от финального эксперимента. Затем была реализована структурированная система. В финальном сравнении A0 использует историю и разрешённые инструменты. B_ledger и A2 используют общие извлечение намерений, хранилище, проверку версий и обработку подтверждений. Различается управление запросами: у B_ledger решение принимает модель, у A2 — ограниченный программный контроллер.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Теперь покажу, в каких условиях сравнивались эти три метода.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Исторические A0/A1 не объединяются с финальным сравнением. Жизненный цикл и извлечение общие для B_ledger и A2, а не исключительное свойство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3.1 и 5.1. docs/v2_1/FINDINGS_AND_DEFENSE.md, Findings. docs/v2_1/COMPARISON_PROTOCOL.md, Frozen behavior. FOLLOWUP_RESULTS.md. artifacts/verification/v21-comparison-live-20260911/methods_background.md.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Дизайн эксперимента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финальное сравнение вошли двенадцать траекторий из четырёх семейств: видимые события, скрытые условия, перенос на другой день и изменение поручения. Каждый из трёх методов прошёл каждую траекторию один раз. Использовалась DeepSeek V3.1 через OpenRouter с провайдером Novita. Тридцать шесть запусков методов дали 288 контрольных точек и 602 вызова модели. Число вызовов и точек не является числом независимых повторов. Основная метрика — средний Set-F1 по траекториям. Она учитывает правильные действия, пропуски и лишние действия. Все сценарии были доступны при разработке, поэтому это исследование на материале разработки.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При таком дизайне основной результат выглядит следующим образом.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Один запуск на каждую пару метод–траектория. Четыре зависимых семейства. Это не чистая отложенная тестовая выборка.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4.1–4.2. docs/v2_1/COMPARISON_RESULTS.md, Execution и Primary results. research/v2_1/comparison_v1.json. docs/v2_1/COMPARISON_PROTOCOL.md, Cases, exposure and execution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Основной результат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этом сравнении наивысший результат получил A0: 0,8643. У B_ledger средний Set-F1 равен 0,8111, у A2 — 0,4806. Главная заранее выбранная разность A2 минус B_ledger составляет примерно минус 0,3306. Вторичная разность с A0 — примерно минус 0,3837. Это абсолютные разности по шкале метрики. Это не доля выполненных заданий или правильных вызовов. В проверенных условиях гипотеза об улучшении не получила поддержки. Статистическое отклонение гипотезы не установлено.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Качество нужно рассматривать вместе с затратами на его получение.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Это среднее по траекториям, а не micro-F1, accuracy или доля выполненных поручений. Статистическая значимость не заявляется. Разности взяты из отчёта, а не вычислены из округлённых столбцов.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5.2. docs/v2_1/COMPARISON_RESULTS.md, Primary results. results/v2_1/comparison-v1/comparison_report_reviewed.json, overall.comparisons. Отчётные значения: −0.330556 и −0.383730.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Ресурсные затраты</a:t>
            </a:r>
          </a:p>
          <a:p xmlns:a="http://schemas.openxmlformats.org/drawingml/2006/main">
            <a:r>
              <a:t>Время: 40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 записанным ответам API стоимость A0 составила около четырёх центов, B_ledger — двадцати одного цента, A2 — двадцати центов. A2 стоил примерно в 4,91 раза дороже A0. Дополнительные вычисления не дали улучшения в этой серии. Это стоимость именно экспериментальных вызовов по данным API, а не стоимость разработки и не сегодняшние тарифы. Вычисления методов не выровнены: различаются этапы и лимиты ответов. Поэтому результат не изолирует эффект памяти от всех различий в вычислениях.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Чтобы понять, какие проблемы скрываются за средним баллом, рассмотрим одну траекторию.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API-отчётность, независимое подтверждение биллинга отсутствует. Это не сравнение при одинаковом вычислительном бюджете.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5.3. docs/v2_1/COMPARISON_RESULTS.md, Resources and billing status. Точные суммы: A0 $0.04047361, B_ledger $0.21212084, A2 $0.19870816. На слайде пять знаков после запятой. Отношение точных сумм ≈ 4.90957.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Проверенный локальный сбой</a:t>
            </a:r>
          </a:p>
          <a:p xmlns:a="http://schemas.openxmlformats.org/drawingml/2006/main">
            <a:r>
              <a:t>Время: 50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Это эпизод из сохранённого журнала A2, показанный в переводе и сокращении. Сначала запечатать контейнер нужно было при появлении фонаря. На третьей контрольной точке пользователь заменил условие на треугольник, и агент правильно сохранил новую версию. На четвёртой точке появился старый сигнал, фонарь. Агент вернул его в запись и попытался запечатать контейнер. Симулятор не подтвердил выполнение, а оценщик зарегистрировал одно лишнее действие. На пятой точке условие восстановлено. Правильные действия состоялись позднее, но ранняя ошибка осталась в оценке. Здесь непосредственно наблюдается возврат к устаревшему условию вместе с преждевременным действием. Одного эпизода недостаточно, чтобы объяснить всё отставание A2.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Этот пример помогает разложить систему на этапы, на которых возможны разные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Проверенная трасса, перевод и сокращение, без вымышленных цитат. Позднее исправление сохранено в рассказе. Случай не доказывает причинный вклад в весь агрегатный разрыв.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results/v2_1/comparison-v1/v2_visible_events_91310/A2/scenario.json. steps.jsonl, строки 3–7: cp3 triangle/v2, cp4 lantern/v3, simulator_not_completed, FP=1, cp5 triangle/v4. calls.jsonl, ответы cp3–5. semantic_review.json, запись v2_visible_events_91310/A2.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Где может возникнуть ошибка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Между инструкцией и исполнением есть несколько этапов. Нужно понять поручение, обновить состояние, получить наблюдение и выбрать действие. В журнале наблюдаются ошибки обновления и выбора. Есть и другой пример: A2 получил положительное сообщение скрытого канала о стабилизации охлаждения, однако после ошибок проверки выбора не выполнил действие. Получение информации само по себе не гарантирует исполнения. Возможное объяснение — ошибочная интерпретация сохраняется и влияет на дальнейшие решения. На схеме это подписано как гипотеза. Мы ещё не отделили её вклад от ошибок выбора, ограничений проверки и обработки исполнения.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Поэтому важно явно отделить полученный результат от того, чего исследование пока не установило.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Наблюдаемые события и причинная гипотеза разделены. Положительное наблюдение не означает доказанную внутреннюю опору модели на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6.1–6.2. results/v2_1/comparison-v1/v2_hidden_91320/A2/steps.jsonl, строка 7: положительный board-ответ, invalid_response_failure=true, execution=[]. calls.jsonl и failures.jsonl для cp7. docs/v2_1/COMPARISON_RESULTS.md, Relationship to earlier evidence и Semantic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Ограничения и вклад</a:t>
            </a:r>
          </a:p>
          <a:p xmlns:a="http://schemas.openxmlformats.org/drawingml/2006/main">
            <a:r>
              <a:t>Время: 45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Реализована система и проведено зафиксированное сравнение. Получены более низкий основной балл A2 и конкретные примеры ошибок. Но исследование не устанавливает перенос на другие модели и реальные приложения, отдельный вклад каждого компонента или успешность исправления. Сценарии были известны при разработке, семейств всего четыре, повтор один, вычисления не выровнены. Разбор ошибок выполнен с помощью ИИ, без независимой человеческой разметки. В рукописи мой вклад обозначен как постановка вопроса и разработка методики сравнения. Код и текст готовились с ИИ-помощью. Самостоятельность нужно подтверждать историей работы и защитой.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С учётом этих границ можно дать прямой ответ на исследовательский вопрос.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Не утверждать, что весь код написан самостоятельно или что семантический анализ независимо подтверждён. Авторский вклад сформулирован не шире найденной рукописи.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7. Историческая рукопись, раздел 5.5; актуальная статья, раздел 7. docs/v2_1/FINDINGS_AND_DEFENSE.md, Methods and discussion. artifacts/verification/v21-comparison-live-20260911/methods_background.md. research/CLAIMS.md, итоговое сравнение.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Вывод и следующий вопрос</a:t>
            </a:r>
          </a:p>
          <a:p xmlns:a="http://schemas.openxmlformats.org/drawingml/2006/main">
            <a:r>
              <a:t>Время: 35 секунд.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Проверенная реализация A2 не улучшила основную метрику. Гипотеза об улучшении не получила поддержки в проверенных условиях. Следующий вопрос: какая часть потерь связана с построением и обновлением состояния намерений, а какая — с последующим исполнением? Для этого можно предложить диагностическое сравнение с эталонным состоянием, построенным только из уже доступной информации. Будущие события и скрытые ответы раскрывать нельзя. Такой эксперимент ещё не проводился. Вывод ограничен этой реализацией и серией: преимущество A2 не показано.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Переход: Далее расположены резервные слайды для вопросов.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Обязательно проговорить: Диагностика с эталонным состоянием — только предложенная будущая работа. Не доказана ни универсальная несостоятельность подхода, ни эффективность исправления.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Основной текст: /Users/bagnesium/Documents/GitHub/Kiodai/output/daryn_2026/source/manuscript.md, разделы 8. docs/v2_1/COMPARISON_RESULTS.md, Interpretation and submission scope. research/CLAIMS.md. Будущая диагностика сформулирована в задании на презентацию и не является выполненным экспериментом.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A. Среднее по траекториям является основной мерой. Micro-F1 вычисляется из сумм счётчиков и имеет другие веса. Суммарные TP/FP/FN могут не отражать все неисполненные обязательства: зависимые задачи, которые не стали due, не следует произвольно добавлять в FN. Официальный оценщик не менялся. Контрасты из полного отчёта: A2−B_ledger = −0.330556, A2−A0 = −0.383730. Источник: docs/v2_1/COMPARISON_RESULTS.md; comparison_report_reviewed.json.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B. Подготовительный COMPARISON_PROTOCOL.md сохраняет историческое «not executed»; фактическое завершение подтверждено COMPARISON_RESULTS.md и журналами. Кандидат 959db38dac8b68f63ecf79420dcd53bea2278cf2. Manifest SHA-256 bfaf52df48553e35978f39f406fd5eb3d78c918a5ac2713a0a169746f23036d5. Все методы стартуют заново для каждой траектории. Порядок балансирует позиции методов, но не все возможные порядки. Вычисления не выровнены. Проверки разделения оценщика не дают абсолютной гарантии отсутствия любой утечки.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C. Счётчики включают разные сущности: запросы, успехи с доступной поддержкой и ошибки валидации выбора. Их отношения нельзя превращать в точность мониторинга без общего знаменателя. Не выполненный зависимый шаг не становится автоматически официальным FN. Баланс уточнён по актуальной статье, §5.3, и непосредственно проверен по трём сценариям revision, instructions cp5 и финальным снимкам оценщика. A0: 22 завершено + 2 не завершено без отменённых + 3 отменено = 27. B_ledger: 18+6+3=27. A2: 12+12+3=27. Это официальные отмены поручений пользователем, не ошибочные отмены в памяти агента. Не вводится процент выполнения как замена Set-F1. AI-assisted semantic review не является независимой человеческой разметкой. Техническая проверка JSON не равна семантической правильности.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Резерв D. Полные ссылки: https://arxiv.org/abs/2607.12385v1; https://arxiv.org/abs/2609.01272v1; https://arxiv.org/abs/2606.23459v1. Карточки arXiv проверены 12.09.2026. PM-Bench: PM-Bench: Evaluating Prospective Memory in LLM Agents. PIS: Making Prospective Memory SLM-Shaped: Typed Intention Stores for Small-Model Agents. TriggerBench: Investigating Prospective Memory for Large Language Models. Структурированная система Kiodai является PIS-inspired инженерной интеграцией, не заявленной точной репродукцией. Актуальная статья, §7: авторский вклад в постановку вопроса и методику; ИИ используется для программирования и текста. Артефакты: results/v2_1/comparison-v1/, research/v2_1/comparison_v1.json, prompts/v2_1/, docs/v2_1/COMPARISON_RESULTS.md, artifacts/verification/v21-comparison-live-20260911/. Ссылка на публичный репозиторий не включена, потому что не была предоставлена и проверена для этой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07127cb0e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62311391db4c56" /><Relationship Type="http://schemas.openxmlformats.org/officeDocument/2006/relationships/slideLayout" Target="/ppt/slideLayouts/slideLayout1.xml" Id="R614feb806d0e47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4feb806d0e47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51ddc17b647a7" /><Relationship Type="http://schemas.openxmlformats.org/officeDocument/2006/relationships/notesSlide" Target="/ppt/notesSlides/notesSlide1.xml" Id="R6adc04a23a61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de15263146ca" /><Relationship Type="http://schemas.openxmlformats.org/officeDocument/2006/relationships/notesSlide" Target="/ppt/notesSlides/notesSlide2.xml" Id="Rc27f294f1b7e46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c4d72739446b" /><Relationship Type="http://schemas.openxmlformats.org/officeDocument/2006/relationships/notesSlide" Target="/ppt/notesSlides/notesSlide3.xml" Id="R870f118768fc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b72a5bfc241c7" /><Relationship Type="http://schemas.openxmlformats.org/officeDocument/2006/relationships/notesSlide" Target="/ppt/notesSlides/notesSlide4.xml" Id="Rcfb35743c7b340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0a89534140e9" /><Relationship Type="http://schemas.openxmlformats.org/officeDocument/2006/relationships/chart" Target="/ppt/slides/charts/chart1.xml" Id="R7f0f3c128f1d4357" /><Relationship Type="http://schemas.openxmlformats.org/officeDocument/2006/relationships/notesSlide" Target="/ppt/notesSlides/notesSlide5.xml" Id="R86eca2b90df0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f285461ec4f58" /><Relationship Type="http://schemas.openxmlformats.org/officeDocument/2006/relationships/chart" Target="/ppt/slides/charts/chart2.xml" Id="Rb038e3a7bcd6459d" /><Relationship Type="http://schemas.openxmlformats.org/officeDocument/2006/relationships/notesSlide" Target="/ppt/notesSlides/notesSlide6.xml" Id="R2ea08ffb671043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75078c194786" /><Relationship Type="http://schemas.openxmlformats.org/officeDocument/2006/relationships/notesSlide" Target="/ppt/notesSlides/notesSlide7.xml" Id="R6ed24c57803342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ab0ecc9a64bd9" /><Relationship Type="http://schemas.openxmlformats.org/officeDocument/2006/relationships/notesSlide" Target="/ppt/notesSlides/notesSlide8.xml" Id="R26d8b066553747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bf7d64e794fd4" /><Relationship Type="http://schemas.openxmlformats.org/officeDocument/2006/relationships/notesSlide" Target="/ppt/notesSlides/notesSlide9.xml" Id="Re5038edac92341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58134587483b" /><Relationship Type="http://schemas.openxmlformats.org/officeDocument/2006/relationships/notesSlide" Target="/ppt/notesSlides/notesSlide10.xml" Id="Rc01bd5ac7ad5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12900d2ff4a29" /><Relationship Type="http://schemas.openxmlformats.org/officeDocument/2006/relationships/notesSlide" Target="/ppt/notesSlides/notesSlide11.xml" Id="Rfcb4926d1ee9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eaa7d9b524c95" /><Relationship Type="http://schemas.openxmlformats.org/officeDocument/2006/relationships/notesSlide" Target="/ppt/notesSlides/notesSlide12.xml" Id="R39ab8504ed2745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5be5bec314745" /><Relationship Type="http://schemas.openxmlformats.org/officeDocument/2006/relationships/notesSlide" Target="/ppt/notesSlides/notesSlide13.xml" Id="R60f080229b754a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c6a13852648e7" /><Relationship Type="http://schemas.openxmlformats.org/officeDocument/2006/relationships/notesSlide" Target="/ppt/notesSlides/notesSlide14.xml" Id="R0b5e05aef293485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Средний Set-F1 по траекториям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Lit>
              <c:ptCount val="3"/>
              <c:pt idx="0">
                <c:v>A2</c:v>
              </c:pt>
              <c:pt idx="1">
                <c:v>B_ledger</c:v>
              </c:pt>
              <c:pt idx="2">
                <c:v>A0</c:v>
              </c:pt>
            </c:strLit>
          </c:cat>
          <c:val>
            <c:numLit>
              <c:formatCode>0.0000</c:formatCode>
              <c:ptCount val="3"/>
              <c:pt idx="0">
                <c:v>0.4806</c:v>
              </c:pt>
              <c:pt idx="1">
                <c:v>0.8111</c:v>
              </c:pt>
              <c:pt idx="2">
                <c:v>0.8643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API cost, USD</c:v>
          </c:tx>
          <c:spPr>
            <a:solidFill xmlns:a="http://schemas.openxmlformats.org/drawingml/2006/main">
              <a:srgbClr val="2D5E7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76449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6827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D5E7C"/>
              </a:solidFill>
            </c:spPr>
          </c:dPt>
          <c:cat>
            <c:strLit>
              <c:ptCount val="3"/>
              <c:pt idx="0">
                <c:v>A2</c:v>
              </c:pt>
              <c:pt idx="1">
                <c:v>B_ledger</c:v>
              </c:pt>
              <c:pt idx="2">
                <c:v>A0</c:v>
              </c:pt>
            </c:strLit>
          </c:cat>
          <c:val>
            <c:numLit>
              <c:formatCode>0.00000</c:formatCode>
              <c:ptCount val="3"/>
              <c:pt idx="0">
                <c:v>0.19871</c:v>
              </c:pt>
              <c:pt idx="1">
                <c:v>0.21212</c:v>
              </c:pt>
              <c:pt idx="2">
                <c:v>0.04047</c:v>
              </c:pt>
            </c:numLit>
          </c:val>
        </c:ser>
        <c:dLbls>
          <c:numFmt formatCode="0.00000" sourceLinked="0"/>
          <c:txPr>
            <a:bodyPr xmlns:a="http://schemas.openxmlformats.org/drawingml/2006/main" anchorCtr="1" wrap="none"/>
            <a:lstStyle xmlns:a="http://schemas.openxmlformats.org/drawingml/2006/main"/>
            <a:p xmlns:a="http://schemas.openxmlformats.org/drawingml/2006/main">
              <a:pPr>
                <a:defRPr sz="2175" b="1">
                  <a:solidFill>
                    <a:srgbClr val="172B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EDF"/>
              </a:solidFill>
              <a:prstDash val="solid"/>
            </a:ln>
          </c:spPr>
        </c:majorGridlines>
        <c:numFmt formatCode="$0.00"/>
        <c:majorTickMark val="none"/>
        <c:minorTickMark val="none"/>
        <c:spPr>
          <a:ln xmlns:a="http://schemas.openxmlformats.org/drawingml/2006/main" w="9525">
            <a:solidFill>
              <a:srgbClr val="D5DED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657C0-83A2-4AD9-BA96-B7556B34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Kiodai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DD44-85A3-4276-BF23-1BD8DD97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5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Структурированная перспективная память</a:t>
            </a:r>
          </a:p>
          <a:p xmlns:a="http://schemas.openxmlformats.org/drawingml/2006/main">
            <a:pPr algn="l">
              <a:defRPr sz="292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языковых ИИ-агентов и методика её оценки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D7722-8592-4170-964B-DA6C7A76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Беймжан Багдат, 10 класс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BBF7-438C-46CD-B5AF-33241A94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Назарбаев Интеллектуальная школа естественно-математического</a:t>
            </a:r>
          </a:p>
          <a:p xmlns:a="http://schemas.openxmlformats.org/drawingml/2006/main">
            <a:pPr algn="l">
              <a:defRPr sz="18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направления района Нура города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8F410-BF37-447A-98DB-715450D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Руководитель: Омаров Абылайхан Бауржанович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0BB2-27F7-4D24-95A9-182301B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Когда появится нужное условие, выполни ранее заданное поручение.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2454-BA1D-4B8F-83E1-71F71BA5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193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61509-9BDE-43A6-BDEC-3C96C57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43500"/>
            <a:ext cx="3752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Другая деятельность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31F77-59F3-4221-9A82-7D6A5E5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143500"/>
            <a:ext cx="3228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Условие и действие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2897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544830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36778-06A9-4ADE-93BD-AF225EE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71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Схема 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F9FA8-2E1A-4C7F-AAC8-1CA5A7A7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627C4-CF9D-42BF-9547-49C4287D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Астана, 2026    Секция: информатика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B1411-B5C5-4E8B-8EE8-C510F410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72225"/>
            <a:ext cx="628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627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0FC7-826E-45EB-9561-710564B7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Исследовательский вопрос и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C385-006A-4194-B560-32ED3F52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18ABF-A9A8-4F59-8BDC-94E54782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1–2; PM-Bench (2026); PIS (2026)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F5E2D-6FD9-4DB7-8036-073799AB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01183-35BA-4389-B909-47D51F0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Вспомнить поручение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7278-2EA3-4D8A-85F2-3F03F3C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Выполнить его вовремя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34B79-C5D8-45B2-8DD1-CA8339D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55AE-3FED-4266-BB92-A6374A9E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Помогает ли явная поддержка намерений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действовать вовремя по сравнению с тем же</a:t>
            </a:r>
          </a:p>
          <a:p xmlns:a="http://schemas.openxmlformats.org/drawingml/2006/main">
            <a:pPr algn="l">
              <a:defRPr sz="27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агентом без такой поддержки?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783F-DAE8-4565-B87A-57A9056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Гипотеза: условия, действия и состояния</a:t>
            </a:r>
          </a:p>
          <a:p xmlns:a="http://schemas.openxmlformats.org/drawingml/2006/main">
            <a:pPr algn="l">
              <a:defRPr sz="24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явном виде повысят качество.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0A626-3C66-4163-8A26-DE06D83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Структурированное хранение уже исследуется в PIS.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Сама идея хранения не заявляется как новая.</a:t>
            </a:r>
          </a:p>
        </p:txBody>
      </p:sp>
    </p:spTree>
    <p:extLst>
      <p:ext uri="{BB962C8B-B14F-4D97-AF65-F5344CB8AC3E}">
        <p14:creationId xmlns:p14="http://schemas.microsoft.com/office/powerpoint/2010/main" val="1517095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66C66-F9E9-446E-9044-247D479B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Что построено и с чем сравнивается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D26BD-8E27-4733-8378-91FF269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1003-81FA-43D0-AD4E-9BB0C52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FOLLOWUP_RESULTS; замороженный протокол comparison-v1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84DFE-AF52-469C-ABC8-816E45D8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D697-5B27-4EE4-9FEF-88E2EB87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76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Исторические пилоты 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7C132-5529-4E96-8534-33038A88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32385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Дополнение к инструкции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A0 = A1: 1,00</a:t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Позднее: ≈ 0,9565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Больше входных токенов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43AA7-D72B-4612-B02E-352541C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9DD70-29C0-49DE-A6D7-DF2D2B59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95450"/>
            <a:ext cx="0" cy="40290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E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AF399-B4F1-449A-9EAC-C3459896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76400"/>
            <a:ext cx="647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Финальное сравнение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BC0F5-A9FF-4A70-A196-8D60CAF5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D5E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5E7C"/>
                </a:solidFill>
                <a:latin typeface="Arial"/>
                <a:ea typeface="Arial"/>
                <a:cs typeface="Arial"/>
              </a:rPr>
              <a:t>A0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49FB0-B875-4243-91DF-041CFC9B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16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История и разрешённые инструменты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6CE66-386F-4D6E-8673-0CDF7092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95625"/>
            <a:ext cx="693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49CC6-7331-4298-8D66-9FBCEC42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Общие извлечение, хранилище, версии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обработка подтверждений: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A0897-DE6C-442C-9439-532D77C1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B_ledger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0CAE3-F1B0-4AF0-8744-5F412388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95775"/>
            <a:ext cx="47053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2C5B5-C2B7-40CD-8AFE-93B2207D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8A907-8D35-4428-8354-79A5E79C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810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Запросами управляет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ограниченный контроллер</a:t>
            </a:r>
          </a:p>
        </p:txBody>
      </p:sp>
    </p:spTree>
    <p:extLst>
      <p:ext uri="{BB962C8B-B14F-4D97-AF65-F5344CB8AC3E}">
        <p14:creationId xmlns:p14="http://schemas.microsoft.com/office/powerpoint/2010/main" val="2058349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0456B-D3A0-40EC-9917-750DF90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Дизайн эксперимента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F8947-E2E9-43A1-89E4-F5880AB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6A4A1-5E3C-4DA5-80E7-962AF5B5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comparison-v1, протокол и итоговый отчёт от 11.09.2026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F0BA-6B8A-4BBD-8C72-29ABBF44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BF62C-8CAB-46FD-8D3B-ABBAA5E6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5F11-80FB-4F92-82F9-10409DF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траекторий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FE81F-8C9C-4867-A639-F06467C0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E27E5-9244-45D7-A4B8-33F2C330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семейства шаблонов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E1D19-BE2A-4DFF-9AE0-1D8259B4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286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54B5F-8940-45B3-9699-011FAF2C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43175"/>
            <a:ext cx="331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0FCF0-7481-4BF0-B1F8-A88EFF7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События, скрытые условия, другой день, изменения поручений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EA1B0-955F-49D1-8F58-AECF9103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BD987-1B4A-4B08-B778-C827AD6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DeepSeek V3.1 через OpenRouter / Novita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6854-26C1-41D5-89F7-4D782F9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36 запусков методов, 288 контрольных точек, 602 вызова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CF8F3-179D-4A3F-84DA-3114690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учитывает правильные действия, пропуски и лишние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6AD3C-B73F-43BA-943A-9BD0938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Сценарии разработки; один запуск на условие.</a:t>
            </a:r>
          </a:p>
        </p:txBody>
      </p:sp>
    </p:spTree>
    <p:extLst>
      <p:ext uri="{BB962C8B-B14F-4D97-AF65-F5344CB8AC3E}">
        <p14:creationId xmlns:p14="http://schemas.microsoft.com/office/powerpoint/2010/main" val="493320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EAC7-F671-4E54-8516-E415A70E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 этом сравнении A0 получил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наивысший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D2CCC-3994-4577-82E7-B83F73B6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38AC4-DDA4-4770-A326-209246D4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results; comparison_report_reviewed.json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334D2-9BF5-496E-B2BF-8F097C94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3FC24-48DB-432A-811B-1D4D02B6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Средний Set-F1 по траекториям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0f3c128f1d435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8601-B051-4095-B0BF-2903F2D6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A2 − B_ledger ≈ −0,3306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AEDF4-7DD3-4D94-9CB5-B15D34A1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10200"/>
            <a:ext cx="5067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A2 − A0 ≈ −0,3837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793BD-A785-400D-81B2-2D262D51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514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Основная разность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492FD-BFB1-4585-A31D-D09949F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857875"/>
            <a:ext cx="506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Вторичная разность</a:t>
            </a:r>
          </a:p>
        </p:txBody>
      </p:sp>
    </p:spTree>
    <p:extLst>
      <p:ext uri="{BB962C8B-B14F-4D97-AF65-F5344CB8AC3E}">
        <p14:creationId xmlns:p14="http://schemas.microsoft.com/office/powerpoint/2010/main" val="312628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087E2-209D-4DAC-A348-894D3B0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Дополнительные вычисления не дали</a:t>
            </a:r>
          </a:p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улучшения в этой серии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B36B-82D8-40C9-9C69-F17149E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591F4-00EB-4DCD-9052-72E6E53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Resources and billing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2183C-2232-44A0-A291-4267FAB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4C45-E42C-4334-9095-1CA27B6F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Записанная стоимость API, USD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106680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38e3a7bcd6459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F434F-6C4B-4A41-A978-91CC0F48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A2 / A0 ≈ 4,91 раза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E8DE-F859-4641-9E51-E123D606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Стоимость этой серии по API. Не текущие тарифы и не затраты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05431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061FB-94D5-48A6-9FCE-C4CA6BC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После замены условия вернулся старый триггер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D3121-5990-4979-9966-665BA22C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08D20-745D-4934-B198-E82B6F92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Трасса A2: v2_visible_events_91310, steps.jsonl, точки 3–7; перевод и сокращение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91FFA-5A52-4DA8-B1B1-E0A74925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B8547-3075-408D-94E3-C144522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Поручение: запечатать контейнер при новом сигнале «треугольник».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A6D54-9EB4-4178-9863-DD33CE1A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08610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Сохранён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треугольник</a:t>
            </a:r>
          </a:p>
          <a:p xmlns:a="http://schemas.openxmlformats.org/drawingml/2006/main">
            <a:pPr algn="ctr">
              <a:defRPr sz="217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2B36"/>
                </a:solidFill>
                <a:latin typeface="Arial"/>
                <a:ea typeface="Arial"/>
                <a:cs typeface="Arial"/>
              </a:rPr>
              <a:t>Версия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3060-C478-4C24-9DE4-199F559F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Точка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Появился фонарь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Он вернулся в запись</a:t>
            </a:r>
          </a:p>
          <a:p xmlns:a="http://schemas.openxmlformats.org/drawingml/2006/main">
            <a:pPr algn="ctr">
              <a:defRPr sz="2100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A76449"/>
                </a:solidFill>
                <a:latin typeface="Arial"/>
                <a:ea typeface="Arial"/>
                <a:cs typeface="Arial"/>
              </a:rPr>
              <a:t>Версия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111FC-C75C-4F49-9337-5CDDCF78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3105150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114300" tIns="95250" rIns="1143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Попытка запечатать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Без подтверждения</a:t>
            </a:r>
          </a:p>
          <a:p xmlns:a="http://schemas.openxmlformats.org/drawingml/2006/main">
            <a:pPr algn="ctr">
              <a:defRPr sz="210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B36"/>
                </a:solidFill>
                <a:latin typeface="Arial"/>
                <a:ea typeface="Arial"/>
                <a:cs typeface="Arial"/>
              </a:rPr>
              <a:t>FP = 1</a:t>
            </a:r>
          </a:p>
        </p:txBody>
      </p: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9570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39050" y="37290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E8D15-AE82-4F4A-A5E9-8FA4DFC6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Точка 5: условие восстановлено. Ранняя ошибка осталась в оценке.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157407-513E-4A58-9D7A-C30ECF0D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Локальная ошибка обновления и действия. Причина общего отставания не установлена.</a:t>
            </a:r>
          </a:p>
        </p:txBody>
      </p:sp>
    </p:spTree>
    <p:extLst>
      <p:ext uri="{BB962C8B-B14F-4D97-AF65-F5344CB8AC3E}">
        <p14:creationId xmlns:p14="http://schemas.microsoft.com/office/powerpoint/2010/main" val="2356219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D628C-8DA3-4CB5-93E2-28E81C0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Где может возникнуть ошибка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592C-CBC9-453A-8EFF-8CC77F2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42C31-B5DB-453E-A62D-D336ABC9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журналы A2 visible_events_91310 и hidden_91320; семантический разбор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A27B-E69D-4050-8154-D02F8363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CFC63-5EBC-4C7C-A57C-12F11321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1A394-BA92-4517-8B5A-746BFC12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Интерпре-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7030-2511-4045-B352-B0B7DD7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Состояние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FA5AC-20F7-4B94-A2F3-5544D6A4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6B27D-1054-467D-9F66-98975F3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A56D3-04C2-480C-AC47-A8C58657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Выбор</a:t>
            </a:r>
          </a:p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BE70A-9084-46A4-8898-F78267C4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5475"/>
            <a:ext cx="1428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DEDF"/>
            </a:solidFill>
          </a:ln>
        </p:spPr>
        <p:txBody>
          <a:bodyPr xmlns:a="http://schemas.openxmlformats.org/drawingml/2006/main" lIns="28575" tIns="95250" rIns="28575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Исполнение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0383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290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1037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01050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991725" y="240030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56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AE578-9D95-4273-8F18-8033C09A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Наблюдается в журналах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A645C-8349-410C-ABC9-AD34E6D3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6477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Старое условие вернулось в запись.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Положительный ответ скрытого канала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получен, но действие не выполнено.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AAE0C3-B4BA-4A1B-8C49-C0BB9034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771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Возможное объяснение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CAB30-F1FB-4533-B7BB-4FE1D31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719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Ошибочная интерпретация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может влиять на следующие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решения. Вклад не изолирован.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E6F9A-E5AD-4EB7-B0A2-42B5651D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Наличие сохранённой информации само по себе</a:t>
            </a:r>
          </a:p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обеспечило правильного действия.</a:t>
            </a:r>
          </a:p>
        </p:txBody>
      </p:sp>
    </p:spTree>
    <p:extLst>
      <p:ext uri="{BB962C8B-B14F-4D97-AF65-F5344CB8AC3E}">
        <p14:creationId xmlns:p14="http://schemas.microsoft.com/office/powerpoint/2010/main" val="1501001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50242-06FD-4731-998E-2175FBE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Ограничения и фактический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2F90C-9E03-4DBF-9021-A9A8554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11D14-5369-41CC-ACF1-53450D32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итоговый отчёт, Methods and discussion; статья, §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91740-81FD-4963-89AC-4ABC87C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B2018-5188-42E2-A397-405E6239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95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Установлено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70E5-525C-443C-B7A0-EB65CBDA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673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Система реализована и сравнена.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A2 самый низкий основной балл.</a:t>
            </a:r>
          </a:p>
          <a:p xmlns:a="http://schemas.openxmlformats.org/drawingml/2006/main">
            <a:pPr algn="l">
              <a:defRPr sz="21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 журналах есть конкретные сбои.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57255-DC47-477D-B267-F514B22D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24025"/>
            <a:ext cx="5086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 установлено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4BC4D-4382-4F0C-80D0-725E66F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50863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Перенос на другие модели и практику.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Результат на закрытой выборке.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Причинный вклад каждого этапа.</a:t>
            </a:r>
          </a:p>
          <a:p xmlns:a="http://schemas.openxmlformats.org/drawingml/2006/main">
            <a:pPr algn="l">
              <a:defRPr sz="210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Успешность исправления.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4C754-B60C-4F3B-87CB-F0680F74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00C64-92A8-4312-92A3-D9FFE87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4 семейства, 1 запуск на условие, известные сценарии,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неравные вычисления, разбор ошибок с ИИ-помощью.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1EE31-35D8-4D8D-9266-BC2DCB7A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Вклад автора: вопрос и методика сравнения.</a:t>
            </a:r>
          </a:p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Код и текст подготовлены с ИИ-помощью.</a:t>
            </a:r>
          </a:p>
        </p:txBody>
      </p:sp>
    </p:spTree>
    <p:extLst>
      <p:ext uri="{BB962C8B-B14F-4D97-AF65-F5344CB8AC3E}">
        <p14:creationId xmlns:p14="http://schemas.microsoft.com/office/powerpoint/2010/main" val="2117164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08B04-A82B-401D-8A10-22DAE6D0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Проверенная A2 не улучшила основную метрику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96D1C-5F5B-4615-ACB4-DD7D0F9D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8CE1F-48A7-4837-94F5-947BEA3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финальное сравнение v2.1; диагностика с эталонным состоянием предложена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7B4C1-04AF-4405-97C1-59B8DCA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CE9F7-6777-458B-BAA9-6FCB3FD4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10972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Гипотеза об улучшении не получила</a:t>
            </a:r>
          </a:p>
          <a:p xmlns:a="http://schemas.openxmlformats.org/drawingml/2006/main">
            <a:pPr algn="l">
              <a:defRPr sz="3225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поддержки в проверенных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EAF2B-4071-44CC-B840-316DB34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72EF3-8BB2-401C-A1BC-34E19A3B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Следующий вопрос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CF03-A54D-4359-9E74-CDE07C5E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Какая часть потерь возникает при построении</a:t>
            </a:r>
          </a:p>
          <a:p xmlns:a="http://schemas.openxmlformats.org/drawingml/2006/main">
            <a:pPr algn="l">
              <a:defRPr sz="2550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обновлении намерений, а какая при исполнении?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6AAB-3EA3-4E83-AB38-7479E37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Предложение: диагностика с эталонным состоянием</a:t>
            </a:r>
          </a:p>
          <a:p xmlns:a="http://schemas.openxmlformats.org/drawingml/2006/main">
            <a:pPr algn="l">
              <a:defRPr sz="20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только из доступной к шагу информации. Ещё не проведена.</a:t>
            </a:r>
          </a:p>
        </p:txBody>
      </p:sp>
    </p:spTree>
    <p:extLst>
      <p:ext uri="{BB962C8B-B14F-4D97-AF65-F5344CB8AC3E}">
        <p14:creationId xmlns:p14="http://schemas.microsoft.com/office/powerpoint/2010/main" val="230718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08571-4C67-4C44-AB9B-A20B56E6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FB985-8561-4D67-91A4-7753625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Метрики и полные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E639-8CFC-41AA-BC0E-1A2121DD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2246D-5C77-4457-B647-2BCAB84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Источник: COMPARISON_RESULTS, Primary results и Resources; все 12 траекторий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61FA1-330C-45A8-B779-A63051A6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2447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1524000"/>
                <a:gridCol w="1381125"/>
                <a:gridCol w="714375"/>
                <a:gridCol w="714375"/>
                <a:gridCol w="714375"/>
                <a:gridCol w="1476375"/>
                <a:gridCol w="2781300"/>
              </a:tblGrid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Среднее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Micro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Set-F1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TP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Вызовы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API, USD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0,8643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0,8462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117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0,04047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0,8111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0,8372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251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0,21212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611981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0,4806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0,6667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234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0,19871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59F65-C8E0-4732-96D7-3BB31BD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Set-F1 = 2TP / (2TP + FP + FN)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5DEA3-E0F0-4C4B-BAA0-2CC67D4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TP: верное действие. FP: лишнее. FN: пропущенное.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3E64-A7BE-4D43-88E3-24C8AF98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Среднее: равный вес каждой траектории. Micro: сначала сумма TP, FP, FN.</a:t>
            </a:r>
          </a:p>
          <a:p xmlns:a="http://schemas.openxmlformats.org/drawingml/2006/main">
            <a:pPr algn="l">
              <a:defRPr sz="1725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Суммарные счётчики не восстанавливают распределение оценок по траекториям.</a:t>
            </a:r>
          </a:p>
        </p:txBody>
      </p:sp>
    </p:spTree>
    <p:extLst>
      <p:ext uri="{BB962C8B-B14F-4D97-AF65-F5344CB8AC3E}">
        <p14:creationId xmlns:p14="http://schemas.microsoft.com/office/powerpoint/2010/main" val="8689504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B70F2-98EA-4559-BC37-3E137BA0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05018-2B66-4BBB-9446-1BC043A6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Валидность сравнения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FAAD-AFEF-47BF-A368-D0852A1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5217D-E99F-414D-863F-F4019353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comparison_v1.json; COMPARISON_PROTOCOL; COMPARISON_RESULTS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2CA49-3E6C-41A7-BFB9-156E8C3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C1B03-0AAB-4E82-9B04-118EB4A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Парные условия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D02B8-3253-4E3C-AFA2-295E4C6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Одинаковые стартовые инструкции, инструменты и 8 точек.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У каждого метода своё состояние и последующая история.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A062D-C3DC-4968-B9A9-6DF69326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0E6FF-7E16-42DB-AD6A-CEBD68E9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Экспозиция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F8213-3C65-4854-8087-080A07C1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9082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Все 12 сценариев известны при разработке.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Одна траектория также использовалась в сетевой smoke-проверке.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2C421-6F7B-4FB6-86FF-9D95D9B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AC18D-B8B2-4E81-B124-C86D4325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B5050-A5E1-482B-9A91-1AC9F05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76650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Конфигурация, промпты и сценарии заморожены до запуска.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Итоговый отчёт фиксирует завершение и сохранение ошибок.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DB2F3-C904-44E3-BBB9-D5A85D51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E39C-FAF2-4AF2-BFF0-44D73358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Граница оценивания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723FD-F31A-41A8-AE72-805A63C2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82677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Эталонные ответы остаются на стороне оценщика.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Невалидный ответ после повтора даёт отсутствие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8D85C-06DB-4380-B46E-1F82B3C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288 точек и 602 вызова принадлежат тем же траекториям.</a:t>
            </a:r>
          </a:p>
          <a:p xmlns:a="http://schemas.openxmlformats.org/drawingml/2006/main">
            <a:pPr algn="l">
              <a:defRPr sz="210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Это нагрузка, а не независимые повторения.</a:t>
            </a:r>
          </a:p>
        </p:txBody>
      </p:sp>
    </p:spTree>
    <p:extLst>
      <p:ext uri="{BB962C8B-B14F-4D97-AF65-F5344CB8AC3E}">
        <p14:creationId xmlns:p14="http://schemas.microsoft.com/office/powerpoint/2010/main" val="14081174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5470-33BC-449E-8650-B3E4332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1DF35-665F-4D26-8CB3-53A04A25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Диагностика и её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1B8F8-CD57-49B8-9686-F4B5A43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D3C93-3C9F-4933-95F7-900949E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Источники: статья, § 5.3; comparison-v1, сценарии revision; semantic_review.json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4B451-41E0-43D2-9C4E-401831D2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590675"/>
                <a:gridCol w="1600200"/>
                <a:gridCol w="1590675"/>
              </a:tblGrid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Счётчик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D5E7C"/>
                          </a:solidFill>
                          <a:latin typeface="Arial"/>
                          <a:ea typeface="Arial"/>
                          <a:cs typeface="Arial"/>
                        </a:rPr>
                        <a:t>A0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368276"/>
                          </a:solidFill>
                          <a:latin typeface="Arial"/>
                          <a:ea typeface="Arial"/>
                          <a:cs typeface="Arial"/>
                        </a:rPr>
                        <a:t>B_ledger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A76449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114300" anchor="ctr">
                    <a:solidFill>
                      <a:srgbClr val="E8EFEC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Запросы скрытого канала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Успехи с опорой на запрос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  <a:tr h="550069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Ошибки проверки выбора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2B36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114300" marB="114300" anchor="ctr"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1B582-A4DC-4A95-B193-F0C112E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Больше запросов не означает больше успешных действий.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Ошибки проверки не равны числу ошибочных намерений.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82E29-F524-4739-822A-3F54CCE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Учёт уточнён: 27 поручений = 24 завершённых</a:t>
            </a:r>
          </a:p>
          <a:p xmlns:a="http://schemas.openxmlformats.org/drawingml/2006/main">
            <a:pPr algn="l">
              <a:defRPr sz="2250" b="1">
                <a:solidFill>
                  <a:srgbClr val="A7644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76449"/>
                </a:solidFill>
                <a:latin typeface="Arial"/>
                <a:ea typeface="Arial"/>
                <a:cs typeface="Arial"/>
              </a:rPr>
              <a:t>или незавершённых без отменённых + 3 отменённых.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F3126-AED7-462D-BBAC-5D3DDA0F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Три отмены подтверждены в сценариях revision. Этот баланс не заменяет Set-F1.</a:t>
            </a:r>
          </a:p>
        </p:txBody>
      </p:sp>
    </p:spTree>
    <p:extLst>
      <p:ext uri="{BB962C8B-B14F-4D97-AF65-F5344CB8AC3E}">
        <p14:creationId xmlns:p14="http://schemas.microsoft.com/office/powerpoint/2010/main" val="17046474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0A01F-9B31-4241-8FE2-F11C639A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827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68276"/>
                </a:solidFill>
                <a:latin typeface="Arial"/>
                <a:ea typeface="Arial"/>
                <a:cs typeface="Arial"/>
              </a:rPr>
              <a:t>РЕЗЕРВ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9B5FF-F0D9-4C02-B9F0-35FE1875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Источники, авторство и воспроизводимость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3839E-CC32-4572-8891-26831AA0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DE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497B8-5563-461D-A3AC-039DC5B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C"/>
                </a:solidFill>
                <a:latin typeface="Arial"/>
                <a:ea typeface="Arial"/>
                <a:cs typeface="Arial"/>
              </a:rPr>
              <a:t>Полные локальные пути и проверенные ссылки приведены в заметках и записке об источниках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FE34B-7A2E-432B-A083-3BEEFB6B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72225"/>
            <a:ext cx="723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A2A59-FFCF-4AF9-8D5C-C607B8D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6286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Предшествующие работы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77AD0-DC27-4932-8329-1CBAED3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9340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Liu G., Gabriel S. PM-Bench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Постановка задачи, среда и Set-F1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arXiv:2607.12385v1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6669-D157-4432-A4DD-3735B268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0769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Zhao J., Wu C. Typed Intention Stores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PIS: типизированные намерения и жизненный цикл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arXiv:2609.01272v1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1F930-7C45-4725-9E0B-42BF88CB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59721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Zhang T. et al. TriggerBench (2026)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Проверка условий срабатывания</a:t>
            </a:r>
          </a:p>
          <a:p xmlns:a="http://schemas.openxmlformats.org/drawingml/2006/main">
            <a:pPr algn="l">
              <a:defRPr sz="187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arXiv:2606.23459v1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6955B-F3D0-413A-9CEC-9A42B323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57375"/>
            <a:ext cx="42957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6"/>
                </a:solidFill>
                <a:latin typeface="Arial"/>
                <a:ea typeface="Arial"/>
                <a:cs typeface="Arial"/>
              </a:rPr>
              <a:t>Автор и доступные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188B-664A-45EB-A688-2BFE72D3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90825"/>
            <a:ext cx="42957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Вопрос и методика сравнения.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ИИ помогал с кодом, текстом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и разбором ошибок.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3D63F-23D9-4C9F-B64C-1E590AD0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05275"/>
            <a:ext cx="42957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Локально сохранены код,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промпты, конфигурации,</a:t>
            </a:r>
          </a:p>
          <a:p xmlns:a="http://schemas.openxmlformats.org/drawingml/2006/main">
            <a:pPr algn="l">
              <a:defRPr sz="2025" b="0">
                <a:solidFill>
                  <a:srgbClr val="172B3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6"/>
                </a:solidFill>
                <a:latin typeface="Arial"/>
                <a:ea typeface="Arial"/>
                <a:cs typeface="Arial"/>
              </a:rPr>
              <a:t>запросы, ответы и оценки.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6E090-BD2B-4781-B282-B954988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581650"/>
            <a:ext cx="4295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Код сам по себе не доказывает</a:t>
            </a:r>
          </a:p>
          <a:p xmlns:a="http://schemas.openxmlformats.org/drawingml/2006/main">
            <a:pPr algn="l">
              <a:defRPr sz="1725" b="1">
                <a:solidFill>
                  <a:srgbClr val="5265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56C"/>
                </a:solidFill>
                <a:latin typeface="Arial"/>
                <a:ea typeface="Arial"/>
                <a:cs typeface="Arial"/>
              </a:rPr>
              <a:t>самостоятельность и корректность.</a:t>
            </a:r>
          </a:p>
        </p:txBody>
      </p:sp>
    </p:spTree>
    <p:extLst>
      <p:ext uri="{BB962C8B-B14F-4D97-AF65-F5344CB8AC3E}">
        <p14:creationId xmlns:p14="http://schemas.microsoft.com/office/powerpoint/2010/main" val="594076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Беймжан Багдат</dc:creator>
  <lastModifiedBy>Codex — подготовка презентации с ИИ-помощью</lastModifiedBy>
  <dc:title>Kiodai: структурированная перспективная память языковых ИИ-агентов и методика её оценки</dc:title>
  <dcterms:created xsi:type="dcterms:W3CDTF">2026-09-12T07:21:06.0510000Z</dcterms:created>
  <dcterms:modified xsi:type="dcterms:W3CDTF">2026-09-12T07:21:06.0510000Z</dcterms:modified>
</coreProperties>
</file>